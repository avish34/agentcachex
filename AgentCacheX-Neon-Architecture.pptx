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4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FF2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04672" y="987552"/>
            <a:ext cx="164592" cy="164592"/>
          </a:xfrm>
          <a:prstGeom prst="ellipse">
            <a:avLst/>
          </a:prstGeom>
          <a:solidFill>
            <a:srgbClr val="00E5F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57400" y="786384"/>
            <a:ext cx="164592" cy="164592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103120"/>
            <a:ext cx="164592" cy="164592"/>
          </a:xfrm>
          <a:prstGeom prst="ellipse">
            <a:avLst/>
          </a:prstGeom>
          <a:solidFill>
            <a:srgbClr val="ADFF2F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960120" y="886968"/>
            <a:ext cx="1133856" cy="201168"/>
          </a:xfrm>
          <a:prstGeom prst="line">
            <a:avLst/>
          </a:prstGeom>
          <a:ln w="12700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60120" y="1115568"/>
            <a:ext cx="667512" cy="1024128"/>
          </a:xfrm>
          <a:prstGeom prst="line">
            <a:avLst/>
          </a:prstGeom>
          <a:ln w="12700">
            <a:solidFill>
              <a:srgbClr val="FF2E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5508" y="617219"/>
            <a:ext cx="2514600" cy="2130551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640080"/>
            <a:ext cx="2468880" cy="2084831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896112"/>
            <a:ext cx="1810512" cy="11338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200" b="1">
                <a:solidFill>
                  <a:srgbClr val="F5F7FF"/>
                </a:solidFill>
                <a:latin typeface="Aptos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1417320"/>
            <a:ext cx="56692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F2EC1"/>
                </a:solidFill>
                <a:latin typeface="Aptos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76272"/>
            <a:ext cx="1810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E5FF"/>
                </a:solidFill>
                <a:latin typeface="Aptos"/>
              </a:rPr>
              <a:t>CACHE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1078992"/>
            <a:ext cx="7498079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200" b="1">
                <a:solidFill>
                  <a:srgbClr val="F5F7FF"/>
                </a:solidFill>
                <a:latin typeface="Aptos"/>
              </a:rPr>
              <a:t>AgentCache</a:t>
            </a:r>
            <a:r>
              <a:rPr sz="4200" b="1">
                <a:solidFill>
                  <a:srgbClr val="FF2EC1"/>
                </a:solidFill>
                <a:latin typeface="Aptos"/>
              </a:rPr>
              <a:t>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1993392"/>
            <a:ext cx="72237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0E5FF"/>
                </a:solidFill>
                <a:latin typeface="Aptos"/>
              </a:rPr>
              <a:t>Repository-aware semantic cache for coding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6472" y="2615184"/>
            <a:ext cx="705916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97A0B5"/>
                </a:solidFill>
                <a:latin typeface="Aptos"/>
              </a:rPr>
              <a:t>Reuse verified code knowledge. Skip repeated exploration. Send less to the LLM.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76472" y="3721608"/>
            <a:ext cx="1353312" cy="310896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9624" y="3730752"/>
            <a:ext cx="120700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0E5FF"/>
                </a:solidFill>
                <a:latin typeface="Aptos"/>
              </a:rPr>
              <a:t>SEMANTIC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21808" y="3721608"/>
            <a:ext cx="1444752" cy="310896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0" y="3730752"/>
            <a:ext cx="129844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2EC1"/>
                </a:solidFill>
                <a:latin typeface="Aptos"/>
              </a:rPr>
              <a:t>AST-AWARE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58584" y="3721608"/>
            <a:ext cx="1572768" cy="310896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1736" y="3730752"/>
            <a:ext cx="142646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ADFF2F"/>
                </a:solidFill>
                <a:latin typeface="Aptos"/>
              </a:rPr>
              <a:t>GIT-VERIFIED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23376" y="3721608"/>
            <a:ext cx="1874519" cy="310896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96528" y="3730752"/>
            <a:ext cx="17282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9933"/>
                </a:solidFill>
                <a:latin typeface="Aptos"/>
              </a:rPr>
              <a:t>TOKEN-EFFICIENT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53611" y="4567427"/>
            <a:ext cx="6867144" cy="88696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776472" y="4590288"/>
            <a:ext cx="6821424" cy="84124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05072" y="4754880"/>
            <a:ext cx="636422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5F7FF"/>
                </a:solidFill>
                <a:latin typeface="Aptos"/>
              </a:rPr>
              <a:t>Focused MVP: one repository, multiple coding agents, evidence - not blind answer replay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6472" y="5824728"/>
            <a:ext cx="68214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7A0B5"/>
                </a:solidFill>
                <a:latin typeface="Aptos"/>
              </a:rPr>
              <a:t>Solution architecture and measurable impact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4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FF2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5603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82880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5F7FF"/>
                </a:solidFill>
                <a:latin typeface="Aptos"/>
              </a:rPr>
              <a:t>The same repository is explored again and again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41248"/>
            <a:ext cx="1092708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2EC1"/>
                </a:solidFill>
                <a:latin typeface="Aptos"/>
              </a:rPr>
              <a:t>Problem: </a:t>
            </a:r>
            <a:r>
              <a:rPr sz="1800" b="1">
                <a:solidFill>
                  <a:srgbClr val="F5F7FF"/>
                </a:solidFill>
                <a:latin typeface="Aptos"/>
              </a:rPr>
              <a:t>coding agents forget discoveries between similar requests, even when the relevant code has not changed.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2084" y="1677924"/>
            <a:ext cx="2788920" cy="79552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1700784"/>
            <a:ext cx="2743200" cy="74980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73936"/>
            <a:ext cx="84124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97A0B5"/>
                </a:solidFill>
                <a:latin typeface="Aptos"/>
              </a:rPr>
              <a:t>Developer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011680"/>
            <a:ext cx="230428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"What does this file do?"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56432" y="2075688"/>
            <a:ext cx="1115568" cy="0"/>
          </a:xfrm>
          <a:prstGeom prst="line">
            <a:avLst/>
          </a:prstGeom>
          <a:ln w="19050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72084" y="2756916"/>
            <a:ext cx="2788920" cy="79552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2779776"/>
            <a:ext cx="2743200" cy="74980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852928"/>
            <a:ext cx="84124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97A0B5"/>
                </a:solidFill>
                <a:latin typeface="Aptos"/>
              </a:rPr>
              <a:t>Developer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090672"/>
            <a:ext cx="230428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"Explain this implementation"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56432" y="3154680"/>
            <a:ext cx="1115568" cy="0"/>
          </a:xfrm>
          <a:prstGeom prst="line">
            <a:avLst/>
          </a:prstGeom>
          <a:ln w="19050">
            <a:solidFill>
              <a:srgbClr val="FF2E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72084" y="3835907"/>
            <a:ext cx="2788920" cy="79552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944" y="3858768"/>
            <a:ext cx="2743200" cy="74980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931920"/>
            <a:ext cx="841248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97A0B5"/>
                </a:solidFill>
                <a:latin typeface="Aptos"/>
              </a:rPr>
              <a:t>CI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169663"/>
            <a:ext cx="230428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"Summarize this class"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456432" y="4233672"/>
            <a:ext cx="1115568" cy="0"/>
          </a:xfrm>
          <a:prstGeom prst="line">
            <a:avLst/>
          </a:prstGeom>
          <a:ln w="1905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576572" y="1531620"/>
            <a:ext cx="2578608" cy="376732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99432" y="1554480"/>
            <a:ext cx="2532888" cy="372160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73752" y="1810512"/>
            <a:ext cx="19933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9933"/>
                </a:solidFill>
                <a:latin typeface="Aptos"/>
              </a:rPr>
              <a:t>REPEATED WORK</a:t>
            </a:r>
          </a:p>
        </p:txBody>
      </p:sp>
      <p:sp>
        <p:nvSpPr>
          <p:cNvPr id="25" name="Oval 24"/>
          <p:cNvSpPr/>
          <p:nvPr/>
        </p:nvSpPr>
        <p:spPr>
          <a:xfrm>
            <a:off x="4956048" y="2359152"/>
            <a:ext cx="237744" cy="237744"/>
          </a:xfrm>
          <a:prstGeom prst="ellipse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2359152"/>
            <a:ext cx="23774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9933"/>
                </a:solidFill>
                <a:latin typeface="Aptos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2304288"/>
            <a:ext cx="13533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Read file</a:t>
            </a:r>
          </a:p>
        </p:txBody>
      </p:sp>
      <p:sp>
        <p:nvSpPr>
          <p:cNvPr id="28" name="Oval 27"/>
          <p:cNvSpPr/>
          <p:nvPr/>
        </p:nvSpPr>
        <p:spPr>
          <a:xfrm>
            <a:off x="4956048" y="2862072"/>
            <a:ext cx="237744" cy="237744"/>
          </a:xfrm>
          <a:prstGeom prst="ellipse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56048" y="2862072"/>
            <a:ext cx="23774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9933"/>
                </a:solidFill>
                <a:latin typeface="Apto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8384" y="2807208"/>
            <a:ext cx="13533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Search symbols</a:t>
            </a:r>
          </a:p>
        </p:txBody>
      </p:sp>
      <p:sp>
        <p:nvSpPr>
          <p:cNvPr id="31" name="Oval 30"/>
          <p:cNvSpPr/>
          <p:nvPr/>
        </p:nvSpPr>
        <p:spPr>
          <a:xfrm>
            <a:off x="4956048" y="3364992"/>
            <a:ext cx="237744" cy="237744"/>
          </a:xfrm>
          <a:prstGeom prst="ellipse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56048" y="3364992"/>
            <a:ext cx="23774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9933"/>
                </a:solidFill>
                <a:latin typeface="Apto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58384" y="3310128"/>
            <a:ext cx="13533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Open dependencies</a:t>
            </a:r>
          </a:p>
        </p:txBody>
      </p:sp>
      <p:sp>
        <p:nvSpPr>
          <p:cNvPr id="34" name="Oval 33"/>
          <p:cNvSpPr/>
          <p:nvPr/>
        </p:nvSpPr>
        <p:spPr>
          <a:xfrm>
            <a:off x="4956048" y="3867912"/>
            <a:ext cx="237744" cy="237744"/>
          </a:xfrm>
          <a:prstGeom prst="ellipse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56048" y="3867912"/>
            <a:ext cx="23774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9933"/>
                </a:solidFill>
                <a:latin typeface="Apto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8384" y="3813048"/>
            <a:ext cx="13533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Build context</a:t>
            </a:r>
          </a:p>
        </p:txBody>
      </p:sp>
      <p:sp>
        <p:nvSpPr>
          <p:cNvPr id="37" name="Oval 36"/>
          <p:cNvSpPr/>
          <p:nvPr/>
        </p:nvSpPr>
        <p:spPr>
          <a:xfrm>
            <a:off x="4956048" y="4370832"/>
            <a:ext cx="237744" cy="237744"/>
          </a:xfrm>
          <a:prstGeom prst="ellipse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56048" y="4370832"/>
            <a:ext cx="237744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9933"/>
                </a:solidFill>
                <a:latin typeface="Apto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4" y="4315968"/>
            <a:ext cx="13533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Ask LLM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150608" y="3410712"/>
            <a:ext cx="621792" cy="0"/>
          </a:xfrm>
          <a:prstGeom prst="line">
            <a:avLst/>
          </a:prstGeom>
          <a:ln w="25400">
            <a:solidFill>
              <a:srgbClr val="FF9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7822692" y="1531620"/>
            <a:ext cx="1600200" cy="139903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845552" y="1554480"/>
            <a:ext cx="1554480" cy="135331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28431" y="1664207"/>
            <a:ext cx="118871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00E5FF"/>
                </a:solidFill>
                <a:latin typeface="Aptos"/>
              </a:rPr>
              <a:t>66K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28431" y="2112264"/>
            <a:ext cx="11887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queries / year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28431" y="2450591"/>
            <a:ext cx="118871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Illustrative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96628" y="1531620"/>
            <a:ext cx="1600200" cy="139903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619488" y="1554480"/>
            <a:ext cx="1554480" cy="135331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802367" y="1664207"/>
            <a:ext cx="118871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ADFF2F"/>
                </a:solidFill>
                <a:latin typeface="Aptos"/>
              </a:rPr>
              <a:t>60%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02367" y="2112264"/>
            <a:ext cx="11887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reusable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02367" y="2450591"/>
            <a:ext cx="118871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Pilot assumption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22692" y="3186684"/>
            <a:ext cx="1600200" cy="139903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845552" y="3209544"/>
            <a:ext cx="1554480" cy="135331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28431" y="3319272"/>
            <a:ext cx="118871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2EC1"/>
                </a:solidFill>
                <a:latin typeface="Aptos"/>
              </a:rPr>
              <a:t>257M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28431" y="3767328"/>
            <a:ext cx="11887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tokens avoidable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28431" y="4105656"/>
            <a:ext cx="118871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Modeled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596628" y="3186684"/>
            <a:ext cx="1600200" cy="139903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619488" y="3209544"/>
            <a:ext cx="1554480" cy="135331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02367" y="3319272"/>
            <a:ext cx="118871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FF9933"/>
                </a:solidFill>
                <a:latin typeface="Aptos"/>
              </a:rPr>
              <a:t>356K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02367" y="3767328"/>
            <a:ext cx="1188719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tool calls avoidable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02367" y="4105656"/>
            <a:ext cx="1188719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Modeled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22692" y="4887468"/>
            <a:ext cx="3374136" cy="70408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4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845552" y="4910328"/>
            <a:ext cx="3328416" cy="65836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4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74152" y="5056632"/>
            <a:ext cx="2871216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5F7FF"/>
                </a:solidFill>
                <a:latin typeface="Aptos"/>
              </a:rPr>
              <a:t>We pay repeatedly for unchanged knowledge.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6492240"/>
            <a:ext cx="8686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Illustrative workload: 20 developers x 15 queries/day x 220 days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5560" y="6492240"/>
            <a:ext cx="14173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1">
                <a:solidFill>
                  <a:srgbClr val="00E5FF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4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FF2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5603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82880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5F7FF"/>
                </a:solidFill>
                <a:latin typeface="Aptos"/>
              </a:rPr>
              <a:t>What AgentCacheX stores - and what it does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749808"/>
            <a:ext cx="109728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7A0B5"/>
                </a:solidFill>
                <a:latin typeface="Aptos"/>
              </a:rPr>
              <a:t>The unit of reuse is a verified evidence card tied to code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" y="1330452"/>
            <a:ext cx="5276088" cy="445312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353312"/>
            <a:ext cx="5230368" cy="440740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09344"/>
            <a:ext cx="46634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E5FF"/>
                </a:solidFill>
                <a:latin typeface="Aptos"/>
              </a:rPr>
              <a:t>CACHE THESE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167127"/>
            <a:ext cx="164592" cy="164592"/>
          </a:xfrm>
          <a:prstGeom prst="ellipse">
            <a:avLst/>
          </a:prstGeom>
          <a:solidFill>
            <a:srgbClr val="00E5F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112264"/>
            <a:ext cx="1389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File 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112264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What responsibility the file owns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807207"/>
            <a:ext cx="164592" cy="164592"/>
          </a:xfrm>
          <a:prstGeom prst="ellipse">
            <a:avLst/>
          </a:prstGeom>
          <a:solidFill>
            <a:srgbClr val="00E5F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752344"/>
            <a:ext cx="1389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Symbol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752344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Methods, classes, interfaces, call relationships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447287"/>
            <a:ext cx="164592" cy="164592"/>
          </a:xfrm>
          <a:prstGeom prst="ellipse">
            <a:avLst/>
          </a:prstGeom>
          <a:solidFill>
            <a:srgbClr val="00E5F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92424"/>
            <a:ext cx="1389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Tool results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392424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Searches, references, dependency discoveries</a:t>
            </a:r>
          </a:p>
        </p:txBody>
      </p:sp>
      <p:sp>
        <p:nvSpPr>
          <p:cNvPr id="19" name="Oval 18"/>
          <p:cNvSpPr/>
          <p:nvPr/>
        </p:nvSpPr>
        <p:spPr>
          <a:xfrm>
            <a:off x="932688" y="4087368"/>
            <a:ext cx="164592" cy="164592"/>
          </a:xfrm>
          <a:prstGeom prst="ellipse">
            <a:avLst/>
          </a:prstGeom>
          <a:solidFill>
            <a:srgbClr val="00E5F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4032504"/>
            <a:ext cx="1389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Code identity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032504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Path, content hash, AST hash, dependency hashes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4727447"/>
            <a:ext cx="164592" cy="164592"/>
          </a:xfrm>
          <a:prstGeom prst="ellipse">
            <a:avLst/>
          </a:prstGeom>
          <a:solidFill>
            <a:srgbClr val="00E5F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4672583"/>
            <a:ext cx="1389888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Source citations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672583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Exact file, symbol, and line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8212" y="1330452"/>
            <a:ext cx="5276088" cy="445312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91072" y="1353312"/>
            <a:ext cx="5230368" cy="440740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5392" y="1609344"/>
            <a:ext cx="46634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2EC1"/>
                </a:solidFill>
                <a:latin typeface="Aptos"/>
              </a:rPr>
              <a:t>DO NOT BLINDLY CACHE</a:t>
            </a:r>
          </a:p>
        </p:txBody>
      </p:sp>
      <p:sp>
        <p:nvSpPr>
          <p:cNvPr id="28" name="Oval 27"/>
          <p:cNvSpPr/>
          <p:nvPr/>
        </p:nvSpPr>
        <p:spPr>
          <a:xfrm>
            <a:off x="6565392" y="2167127"/>
            <a:ext cx="164592" cy="164592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2112264"/>
            <a:ext cx="14447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Final patches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8472" y="2112264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May conflict with current working tree</a:t>
            </a:r>
          </a:p>
        </p:txBody>
      </p:sp>
      <p:sp>
        <p:nvSpPr>
          <p:cNvPr id="31" name="Oval 30"/>
          <p:cNvSpPr/>
          <p:nvPr/>
        </p:nvSpPr>
        <p:spPr>
          <a:xfrm>
            <a:off x="6565392" y="2807207"/>
            <a:ext cx="164592" cy="164592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67144" y="2752344"/>
            <a:ext cx="14447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Shell trajectories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2" y="2752344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Environment and credentials may differ</a:t>
            </a:r>
          </a:p>
        </p:txBody>
      </p:sp>
      <p:sp>
        <p:nvSpPr>
          <p:cNvPr id="34" name="Oval 33"/>
          <p:cNvSpPr/>
          <p:nvPr/>
        </p:nvSpPr>
        <p:spPr>
          <a:xfrm>
            <a:off x="6565392" y="3447287"/>
            <a:ext cx="164592" cy="164592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67144" y="3392424"/>
            <a:ext cx="14447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Unverified answers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48472" y="3392424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Semantic similarity is not correctness</a:t>
            </a:r>
          </a:p>
        </p:txBody>
      </p:sp>
      <p:sp>
        <p:nvSpPr>
          <p:cNvPr id="37" name="Oval 36"/>
          <p:cNvSpPr/>
          <p:nvPr/>
        </p:nvSpPr>
        <p:spPr>
          <a:xfrm>
            <a:off x="6565392" y="4087368"/>
            <a:ext cx="164592" cy="164592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67144" y="4032504"/>
            <a:ext cx="14447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Stale dependencies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48472" y="4032504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Unchanged file can call changed code</a:t>
            </a:r>
          </a:p>
        </p:txBody>
      </p:sp>
      <p:sp>
        <p:nvSpPr>
          <p:cNvPr id="40" name="Oval 39"/>
          <p:cNvSpPr/>
          <p:nvPr/>
        </p:nvSpPr>
        <p:spPr>
          <a:xfrm>
            <a:off x="6565392" y="4727447"/>
            <a:ext cx="164592" cy="164592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67144" y="4672583"/>
            <a:ext cx="144475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Cross-repo knowledge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8472" y="4672583"/>
            <a:ext cx="27889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97A0B5"/>
                </a:solidFill>
                <a:latin typeface="Aptos"/>
              </a:rPr>
              <a:t>Outside the focused MVP boundary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842516" y="5929883"/>
            <a:ext cx="8513064" cy="52120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865376" y="5952744"/>
            <a:ext cx="8467344" cy="47548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75688" y="6016752"/>
            <a:ext cx="80467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5F7FF"/>
                </a:solidFill>
                <a:latin typeface="Aptos"/>
              </a:rPr>
              <a:t>AgentCacheX returns compact evidence; the coding agent still reasons and produces the user-facing answer.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6492240"/>
            <a:ext cx="8686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MVP scope: a single repository and coding-agent workflows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5560" y="6492240"/>
            <a:ext cx="14173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1">
                <a:solidFill>
                  <a:srgbClr val="00E5FF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4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FF2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5603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82880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5F7FF"/>
                </a:solidFill>
                <a:latin typeface="Aptos"/>
              </a:rPr>
              <a:t>End-to-end flow: from user prompt to verified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749808"/>
            <a:ext cx="109728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7A0B5"/>
                </a:solidFill>
                <a:latin typeface="Aptos"/>
              </a:rPr>
              <a:t>Warm hits avoid redundant exploration; misses learn from the new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24712"/>
            <a:ext cx="1773936" cy="310896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133856"/>
            <a:ext cx="16276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0E5FF"/>
                </a:solidFill>
                <a:latin typeface="Aptos"/>
              </a:rPr>
              <a:t>USER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89888" y="1527048"/>
            <a:ext cx="0" cy="4416552"/>
          </a:xfrm>
          <a:prstGeom prst="line">
            <a:avLst/>
          </a:prstGeom>
          <a:ln w="12700">
            <a:solidFill>
              <a:srgbClr val="444B5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61488" y="1124712"/>
            <a:ext cx="1865376" cy="310896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4640" y="1133856"/>
            <a:ext cx="17190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8B5CF6"/>
                </a:solidFill>
                <a:latin typeface="Aptos"/>
              </a:rPr>
              <a:t>CODING 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94176" y="1527048"/>
            <a:ext cx="0" cy="4416552"/>
          </a:xfrm>
          <a:prstGeom prst="line">
            <a:avLst/>
          </a:prstGeom>
          <a:ln w="12700">
            <a:solidFill>
              <a:srgbClr val="444B5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84064" y="1124712"/>
            <a:ext cx="1865376" cy="310896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1133856"/>
            <a:ext cx="17190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2EC1"/>
                </a:solidFill>
                <a:latin typeface="Aptos"/>
              </a:rPr>
              <a:t>AGENTCACHEX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16752" y="1527048"/>
            <a:ext cx="0" cy="4416552"/>
          </a:xfrm>
          <a:prstGeom prst="line">
            <a:avLst/>
          </a:prstGeom>
          <a:ln w="12700">
            <a:solidFill>
              <a:srgbClr val="444B5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06640" y="1124712"/>
            <a:ext cx="1865376" cy="310896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9792" y="1133856"/>
            <a:ext cx="17190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ADFF2F"/>
                </a:solidFill>
                <a:latin typeface="Aptos"/>
              </a:rPr>
              <a:t>REPOSITORY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39327" y="1527048"/>
            <a:ext cx="0" cy="4416552"/>
          </a:xfrm>
          <a:prstGeom prst="line">
            <a:avLst/>
          </a:prstGeom>
          <a:ln w="12700">
            <a:solidFill>
              <a:srgbClr val="444B5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765792" y="1124712"/>
            <a:ext cx="1874519" cy="310896"/>
          </a:xfrm>
          <a:prstGeom prst="roundRect">
            <a:avLst/>
          </a:prstGeom>
          <a:solidFill>
            <a:srgbClr val="080A10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38944" y="1133856"/>
            <a:ext cx="17282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9933"/>
                </a:solidFill>
                <a:latin typeface="Aptos"/>
              </a:rPr>
              <a:t>LLM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703052" y="1527048"/>
            <a:ext cx="0" cy="4416552"/>
          </a:xfrm>
          <a:prstGeom prst="line">
            <a:avLst/>
          </a:prstGeom>
          <a:ln w="12700">
            <a:solidFill>
              <a:srgbClr val="444B5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389888" y="1783080"/>
            <a:ext cx="2304288" cy="0"/>
          </a:xfrm>
          <a:prstGeom prst="line">
            <a:avLst/>
          </a:prstGeom>
          <a:ln w="21590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499616" y="1554480"/>
            <a:ext cx="2084832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00E5FF"/>
                </a:solidFill>
                <a:latin typeface="Aptos"/>
              </a:rPr>
              <a:t>1. Prompt + selected file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694176" y="2267712"/>
            <a:ext cx="2322576" cy="0"/>
          </a:xfrm>
          <a:prstGeom prst="line">
            <a:avLst/>
          </a:prstGeom>
          <a:ln w="2159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803904" y="2039112"/>
            <a:ext cx="2103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8B5CF6"/>
                </a:solidFill>
                <a:latin typeface="Aptos"/>
              </a:rPr>
              <a:t>2. cache_lookup(intent, target, repo state)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16752" y="2752344"/>
            <a:ext cx="2322575" cy="0"/>
          </a:xfrm>
          <a:prstGeom prst="line">
            <a:avLst/>
          </a:prstGeom>
          <a:ln w="21590">
            <a:solidFill>
              <a:srgbClr val="FF2E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126480" y="2523744"/>
            <a:ext cx="2103119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2EC1"/>
                </a:solidFill>
                <a:latin typeface="Aptos"/>
              </a:rPr>
              <a:t>3. Read hashes / changed dependencies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016752" y="3236976"/>
            <a:ext cx="2322575" cy="0"/>
          </a:xfrm>
          <a:prstGeom prst="line">
            <a:avLst/>
          </a:prstGeom>
          <a:ln w="21590">
            <a:solidFill>
              <a:srgbClr val="ADF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26480" y="3008376"/>
            <a:ext cx="2103119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ADFF2F"/>
                </a:solidFill>
                <a:latin typeface="Aptos"/>
              </a:rPr>
              <a:t>4. Current fingerprints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694176" y="3721608"/>
            <a:ext cx="2322576" cy="0"/>
          </a:xfrm>
          <a:prstGeom prst="line">
            <a:avLst/>
          </a:prstGeom>
          <a:ln w="21590">
            <a:solidFill>
              <a:srgbClr val="FF2E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803904" y="3493008"/>
            <a:ext cx="2103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2EC1"/>
                </a:solidFill>
                <a:latin typeface="Aptos"/>
              </a:rPr>
              <a:t>5. Fresh evidence OR miss plan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694176" y="4206240"/>
            <a:ext cx="4645151" cy="0"/>
          </a:xfrm>
          <a:prstGeom prst="line">
            <a:avLst/>
          </a:prstGeom>
          <a:ln w="2159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803904" y="3977639"/>
            <a:ext cx="4425695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8B5CF6"/>
                </a:solidFill>
                <a:latin typeface="Aptos"/>
              </a:rPr>
              <a:t>6. Miss only: read/search missing code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94176" y="4690872"/>
            <a:ext cx="7008876" cy="0"/>
          </a:xfrm>
          <a:prstGeom prst="line">
            <a:avLst/>
          </a:prstGeom>
          <a:ln w="2159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803904" y="4462272"/>
            <a:ext cx="67894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8B5CF6"/>
                </a:solidFill>
                <a:latin typeface="Aptos"/>
              </a:rPr>
              <a:t>7. Compiled context + prompt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3694176" y="5175504"/>
            <a:ext cx="7008876" cy="0"/>
          </a:xfrm>
          <a:prstGeom prst="line">
            <a:avLst/>
          </a:prstGeom>
          <a:ln w="21590">
            <a:solidFill>
              <a:srgbClr val="FF9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803904" y="4946904"/>
            <a:ext cx="67894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F9933"/>
                </a:solidFill>
                <a:latin typeface="Aptos"/>
              </a:rPr>
              <a:t>8. Explanation / reasoning result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694176" y="5660136"/>
            <a:ext cx="2322576" cy="0"/>
          </a:xfrm>
          <a:prstGeom prst="line">
            <a:avLst/>
          </a:prstGeom>
          <a:ln w="2159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803904" y="5431536"/>
            <a:ext cx="210312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8B5CF6"/>
                </a:solidFill>
                <a:latin typeface="Aptos"/>
              </a:rPr>
              <a:t>9. Record evidence + metrics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6492240"/>
            <a:ext cx="8686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If the cache hit is fresh, steps 6 repository exploration can be skipped or sharply reduced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6492240"/>
            <a:ext cx="14173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1">
                <a:solidFill>
                  <a:srgbClr val="00E5FF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4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FF2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5603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82880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5F7FF"/>
                </a:solidFill>
                <a:latin typeface="Aptos"/>
              </a:rPr>
              <a:t>What is sent to the LLM - before and after AgentCacheX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9788" y="1120140"/>
            <a:ext cx="5404104" cy="5093207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" y="1143000"/>
            <a:ext cx="5358384" cy="504748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389888"/>
            <a:ext cx="4754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2EC1"/>
                </a:solidFill>
                <a:latin typeface="Aptos"/>
              </a:rPr>
              <a:t>COLD / NO CACHE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847088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LLM input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249424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System + agent instructions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2688336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697479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Original user prompt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" y="3127248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136391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Full selected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" y="3566160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575303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Multiple dependency files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" y="4005072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014215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Raw search and symbol outputs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43983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453127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Agent's exploratory observations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2240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FF2EC1"/>
                </a:solidFill>
                <a:latin typeface="Aptos"/>
              </a:rPr>
              <a:t>~8,000 input 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550408"/>
            <a:ext cx="44805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7A0B5"/>
                </a:solidFill>
                <a:latin typeface="Aptos"/>
              </a:rPr>
              <a:t>LLM returns: file explanation + reasoning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3348" y="1120140"/>
            <a:ext cx="5404104" cy="5093207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236208" y="1143000"/>
            <a:ext cx="5358384" cy="504748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1389888"/>
            <a:ext cx="47548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ADFF2F"/>
                </a:solidFill>
                <a:latin typeface="Aptos"/>
              </a:rPr>
              <a:t>WARM / VERIFIED CACHE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9672" y="1847088"/>
            <a:ext cx="10972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LLM input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56248" y="2249424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2258568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System + agent instructions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2688336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0840" y="2697479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Original user prompt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56248" y="3127248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3136391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Verified purpose and responsibilities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56248" y="3566160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3575303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Relevant symbols and control flow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56248" y="4005072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4014215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Changed snippets only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56248" y="4443983"/>
            <a:ext cx="4553712" cy="310896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20840" y="4453127"/>
            <a:ext cx="422452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F5F7FF"/>
                </a:solidFill>
                <a:latin typeface="Aptos"/>
              </a:rPr>
              <a:t>Exact citations + freshness status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5102352"/>
            <a:ext cx="24231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ADFF2F"/>
                </a:solidFill>
                <a:latin typeface="Aptos"/>
              </a:rPr>
              <a:t>~1,500 input tokens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5550408"/>
            <a:ext cx="448056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7A0B5"/>
                </a:solidFill>
                <a:latin typeface="Aptos"/>
              </a:rPr>
              <a:t>LLM returns: current answer grounded in cached evidence</a:t>
            </a:r>
          </a:p>
        </p:txBody>
      </p:sp>
      <p:sp>
        <p:nvSpPr>
          <p:cNvPr id="42" name="Oval 41"/>
          <p:cNvSpPr/>
          <p:nvPr/>
        </p:nvSpPr>
        <p:spPr>
          <a:xfrm>
            <a:off x="5833872" y="3337560"/>
            <a:ext cx="502920" cy="502920"/>
          </a:xfrm>
          <a:prstGeom prst="ellipse">
            <a:avLst/>
          </a:prstGeom>
          <a:solidFill>
            <a:srgbClr val="080A10"/>
          </a:solidFill>
          <a:ln w="254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33872" y="3337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0E5FF"/>
                </a:solidFill>
                <a:latin typeface="Aptos"/>
              </a:rPr>
              <a:t>81%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97296" y="3840480"/>
            <a:ext cx="59436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00E5FF"/>
                </a:solidFill>
                <a:latin typeface="Aptos"/>
              </a:rPr>
              <a:t>less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6492240"/>
            <a:ext cx="8686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Illustrative model - replace assumptions with pilot telemetry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6492240"/>
            <a:ext cx="14173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1">
                <a:solidFill>
                  <a:srgbClr val="00E5FF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4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FF2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5603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82880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5F7FF"/>
                </a:solidFill>
                <a:latin typeface="Aptos"/>
              </a:rPr>
              <a:t>How AgentCacheX decides whether reuse is safe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749808"/>
            <a:ext cx="109728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7A0B5"/>
                </a:solidFill>
                <a:latin typeface="Aptos"/>
              </a:rPr>
              <a:t>Semantic similarity finds candidates; AST and Git state decide whether they can be trusted.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" y="1467612"/>
            <a:ext cx="2011679" cy="203911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1490472"/>
            <a:ext cx="1965960" cy="199339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691640"/>
            <a:ext cx="384048" cy="384048"/>
          </a:xfrm>
          <a:prstGeom prst="ellipse">
            <a:avLst/>
          </a:prstGeom>
          <a:solidFill>
            <a:srgbClr val="00E5F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30408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1682496"/>
            <a:ext cx="1060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NORMALIZE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2258568"/>
            <a:ext cx="15636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5F7FF"/>
                </a:solidFill>
                <a:latin typeface="Aptos"/>
              </a:rPr>
              <a:t>Intent
Target file
Requested aspects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68880" y="2487168"/>
            <a:ext cx="292608" cy="0"/>
          </a:xfrm>
          <a:prstGeom prst="line">
            <a:avLst/>
          </a:prstGeom>
          <a:ln w="19050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02636" y="1467612"/>
            <a:ext cx="2011679" cy="203911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25496" y="1490472"/>
            <a:ext cx="1965960" cy="199339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0088" y="1691640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0088" y="169164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30408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863" y="1682496"/>
            <a:ext cx="1060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8B5CF6"/>
                </a:solidFill>
                <a:latin typeface="Aptos"/>
              </a:rPr>
              <a:t>RETRIEVE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2258568"/>
            <a:ext cx="15636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5F7FF"/>
                </a:solidFill>
                <a:latin typeface="Aptos"/>
              </a:rPr>
              <a:t>Exact key
Vector similarity
Lexical match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18888" y="2487168"/>
            <a:ext cx="292608" cy="0"/>
          </a:xfrm>
          <a:prstGeom prst="line">
            <a:avLst/>
          </a:prstGeom>
          <a:ln w="1905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52644" y="1467612"/>
            <a:ext cx="2011679" cy="203911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75504" y="1490472"/>
            <a:ext cx="1965960" cy="199339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40096" y="1691640"/>
            <a:ext cx="384048" cy="384048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0096" y="169164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30408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3872" y="1682496"/>
            <a:ext cx="1060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2EC1"/>
                </a:solidFill>
                <a:latin typeface="Aptos"/>
              </a:rPr>
              <a:t>STRUCTURE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6672" y="2258568"/>
            <a:ext cx="15636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5F7FF"/>
                </a:solidFill>
                <a:latin typeface="Aptos"/>
              </a:rPr>
              <a:t>AST fingerprint
Symbols
Call relationships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68896" y="2487168"/>
            <a:ext cx="292608" cy="0"/>
          </a:xfrm>
          <a:prstGeom prst="line">
            <a:avLst/>
          </a:prstGeom>
          <a:ln w="19050">
            <a:solidFill>
              <a:srgbClr val="FF2E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02651" y="1467612"/>
            <a:ext cx="2011679" cy="203911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25511" y="1490472"/>
            <a:ext cx="1965960" cy="199339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90103" y="1691640"/>
            <a:ext cx="384048" cy="384048"/>
          </a:xfrm>
          <a:prstGeom prst="ellipse">
            <a:avLst/>
          </a:prstGeom>
          <a:solidFill>
            <a:srgbClr val="ADFF2F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90103" y="169164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30408"/>
                </a:solidFill>
                <a:latin typeface="Aptos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1682496"/>
            <a:ext cx="1060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ADFF2F"/>
                </a:solidFill>
                <a:latin typeface="Aptos"/>
              </a:rPr>
              <a:t>VALIDATE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2258568"/>
            <a:ext cx="15636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5F7FF"/>
                </a:solidFill>
                <a:latin typeface="Aptos"/>
              </a:rPr>
              <a:t>Content hash
Dependency hashes
Working tree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518903" y="2487168"/>
            <a:ext cx="292608" cy="0"/>
          </a:xfrm>
          <a:prstGeom prst="line">
            <a:avLst/>
          </a:prstGeom>
          <a:ln w="19050">
            <a:solidFill>
              <a:srgbClr val="ADF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852659" y="1467612"/>
            <a:ext cx="2011679" cy="203911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75519" y="1490472"/>
            <a:ext cx="1965960" cy="199339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40111" y="1691640"/>
            <a:ext cx="384048" cy="384048"/>
          </a:xfrm>
          <a:prstGeom prst="ellipse">
            <a:avLst/>
          </a:prstGeom>
          <a:solidFill>
            <a:srgbClr val="FF9933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40111" y="169164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30408"/>
                </a:solidFill>
                <a:latin typeface="Aptos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33888" y="1682496"/>
            <a:ext cx="106070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9933"/>
                </a:solidFill>
                <a:latin typeface="Aptos"/>
              </a:rPr>
              <a:t>COMPILE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76688" y="2258568"/>
            <a:ext cx="156362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F5F7FF"/>
                </a:solidFill>
                <a:latin typeface="Aptos"/>
              </a:rPr>
              <a:t>Rank
Deduplicate
Fit token 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895344"/>
            <a:ext cx="187451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97A0B5"/>
                </a:solidFill>
                <a:latin typeface="Aptos"/>
              </a:rPr>
              <a:t>CACHE DECISION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5508" y="4338827"/>
            <a:ext cx="2551176" cy="106984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58368" y="4361688"/>
            <a:ext cx="2505456" cy="102412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7" y="4489704"/>
            <a:ext cx="76809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ADFF2F"/>
                </a:solidFill>
                <a:latin typeface="Aptos"/>
              </a:rPr>
              <a:t>FRESH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72768" y="4443984"/>
            <a:ext cx="13533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F5F7FF"/>
                </a:solidFill>
                <a:latin typeface="Aptos"/>
              </a:rPr>
              <a:t>Reuse evidence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33572" y="4338827"/>
            <a:ext cx="2551176" cy="106984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456432" y="4361688"/>
            <a:ext cx="2505456" cy="102412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39312" y="4489704"/>
            <a:ext cx="76809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9933"/>
                </a:solidFill>
                <a:latin typeface="Aptos"/>
              </a:rPr>
              <a:t>PARTIAL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70832" y="4443984"/>
            <a:ext cx="13533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F5F7FF"/>
                </a:solidFill>
                <a:latin typeface="Aptos"/>
              </a:rPr>
              <a:t>Reuse unchanged cards; inspect changed dependencies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31636" y="4338827"/>
            <a:ext cx="2551176" cy="106984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254496" y="4361688"/>
            <a:ext cx="2505456" cy="102412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37376" y="4489704"/>
            <a:ext cx="76809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2EC1"/>
                </a:solidFill>
                <a:latin typeface="Aptos"/>
              </a:rPr>
              <a:t>STALE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4443984"/>
            <a:ext cx="13533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F5F7FF"/>
                </a:solidFill>
                <a:latin typeface="Aptos"/>
              </a:rPr>
              <a:t>Reject cached card and refresh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29700" y="4338827"/>
            <a:ext cx="2551176" cy="1069848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052560" y="4361688"/>
            <a:ext cx="2505456" cy="102412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35440" y="4489704"/>
            <a:ext cx="768096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MISS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4443984"/>
            <a:ext cx="13533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1">
                <a:solidFill>
                  <a:srgbClr val="F5F7FF"/>
                </a:solidFill>
                <a:latin typeface="Aptos"/>
              </a:rPr>
              <a:t>Explore normally and record new evidence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0360" y="5797296"/>
            <a:ext cx="6446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2EC1"/>
                </a:solidFill>
                <a:latin typeface="Aptos"/>
              </a:rPr>
              <a:t>AST is a matching signal, not proof of behavioral equivalence.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4360" y="6492240"/>
            <a:ext cx="8686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Illustrative model - replace assumptions with pilot telemetry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95560" y="6492240"/>
            <a:ext cx="14173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1">
                <a:solidFill>
                  <a:srgbClr val="00E5FF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4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FF2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5603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82880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5F7FF"/>
                </a:solidFill>
                <a:latin typeface="Aptos"/>
              </a:rPr>
              <a:t>Cold path learns; warm path reuses; code changes invalidate selectively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61288"/>
            <a:ext cx="187451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2EC1"/>
                </a:solidFill>
                <a:latin typeface="Aptos"/>
              </a:rPr>
              <a:t>COLD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" y="1604772"/>
            <a:ext cx="2240279" cy="75895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2194560" cy="71323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1755648"/>
            <a:ext cx="457200" cy="457200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556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30408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172821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Lookup misses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31820" y="1604772"/>
            <a:ext cx="2240279" cy="75895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54680" y="1627632"/>
            <a:ext cx="2194560" cy="71323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73552" y="1755648"/>
            <a:ext cx="457200" cy="457200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17556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30408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9624" y="172821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Agent explores 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8131" y="1604772"/>
            <a:ext cx="2240279" cy="75895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50992" y="1627632"/>
            <a:ext cx="2194560" cy="71323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769864" y="1755648"/>
            <a:ext cx="457200" cy="457200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9864" y="17556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30408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172821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LLM explains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4444" y="1604772"/>
            <a:ext cx="2240279" cy="75895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47304" y="1627632"/>
            <a:ext cx="2194560" cy="71323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66176" y="1755648"/>
            <a:ext cx="457200" cy="457200"/>
          </a:xfrm>
          <a:prstGeom prst="ellipse">
            <a:avLst/>
          </a:prstGeom>
          <a:solidFill>
            <a:srgbClr val="FF2EC1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6176" y="1755648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30408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42248" y="172821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Evidence recorded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71216" y="1984248"/>
            <a:ext cx="256032" cy="0"/>
          </a:xfrm>
          <a:prstGeom prst="line">
            <a:avLst/>
          </a:prstGeom>
          <a:ln w="19050">
            <a:solidFill>
              <a:srgbClr val="FF2E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367528" y="1984248"/>
            <a:ext cx="256032" cy="0"/>
          </a:xfrm>
          <a:prstGeom prst="line">
            <a:avLst/>
          </a:prstGeom>
          <a:ln w="19050">
            <a:solidFill>
              <a:srgbClr val="FF2E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63840" y="1984248"/>
            <a:ext cx="256031" cy="0"/>
          </a:xfrm>
          <a:prstGeom prst="line">
            <a:avLst/>
          </a:prstGeom>
          <a:ln w="19050">
            <a:solidFill>
              <a:srgbClr val="FF2E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8368" y="2880360"/>
            <a:ext cx="1874519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ADFF2F"/>
                </a:solidFill>
                <a:latin typeface="Aptos"/>
              </a:rPr>
              <a:t>WARM PATH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" y="3323844"/>
            <a:ext cx="2240279" cy="75895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" y="3346704"/>
            <a:ext cx="2194560" cy="71323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77240" y="3474720"/>
            <a:ext cx="457200" cy="457200"/>
          </a:xfrm>
          <a:prstGeom prst="ellipse">
            <a:avLst/>
          </a:prstGeom>
          <a:solidFill>
            <a:srgbClr val="ADFF2F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4747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30408"/>
                </a:solidFill>
                <a:latin typeface="Aptos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" y="344728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Semantic candidate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1820" y="3323844"/>
            <a:ext cx="2240279" cy="75895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154680" y="3346704"/>
            <a:ext cx="2194560" cy="71323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73552" y="3474720"/>
            <a:ext cx="457200" cy="457200"/>
          </a:xfrm>
          <a:prstGeom prst="ellipse">
            <a:avLst/>
          </a:prstGeom>
          <a:solidFill>
            <a:srgbClr val="ADFF2F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73552" y="34747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30408"/>
                </a:solidFill>
                <a:latin typeface="Apto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9624" y="344728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Hashes verified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28131" y="3323844"/>
            <a:ext cx="2240279" cy="75895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5650992" y="3346704"/>
            <a:ext cx="2194560" cy="71323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9864" y="3474720"/>
            <a:ext cx="457200" cy="457200"/>
          </a:xfrm>
          <a:prstGeom prst="ellipse">
            <a:avLst/>
          </a:prstGeom>
          <a:solidFill>
            <a:srgbClr val="ADFF2F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9864" y="34747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30408"/>
                </a:solidFill>
                <a:latin typeface="Aptos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344728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Context compiled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4444" y="3323844"/>
            <a:ext cx="2240279" cy="75895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147304" y="3346704"/>
            <a:ext cx="2194560" cy="71323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266176" y="3474720"/>
            <a:ext cx="457200" cy="457200"/>
          </a:xfrm>
          <a:prstGeom prst="ellipse">
            <a:avLst/>
          </a:prstGeom>
          <a:solidFill>
            <a:srgbClr val="ADFF2F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66176" y="34747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30408"/>
                </a:solidFill>
                <a:latin typeface="Aptos"/>
              </a:rPr>
              <a:t>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42248" y="344728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LLM answers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871216" y="3703320"/>
            <a:ext cx="256032" cy="0"/>
          </a:xfrm>
          <a:prstGeom prst="line">
            <a:avLst/>
          </a:prstGeom>
          <a:ln w="19050">
            <a:solidFill>
              <a:srgbClr val="ADF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5367528" y="3703320"/>
            <a:ext cx="256032" cy="0"/>
          </a:xfrm>
          <a:prstGeom prst="line">
            <a:avLst/>
          </a:prstGeom>
          <a:ln w="19050">
            <a:solidFill>
              <a:srgbClr val="ADF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863840" y="3703320"/>
            <a:ext cx="256031" cy="0"/>
          </a:xfrm>
          <a:prstGeom prst="line">
            <a:avLst/>
          </a:prstGeom>
          <a:ln w="19050">
            <a:solidFill>
              <a:srgbClr val="ADF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58368" y="4617720"/>
            <a:ext cx="2148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9933"/>
                </a:solidFill>
                <a:latin typeface="Aptos"/>
              </a:rPr>
              <a:t>AFTER A CODE CHANGE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" y="5006340"/>
            <a:ext cx="9738360" cy="813816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58368" y="5029200"/>
            <a:ext cx="9692640" cy="768096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5193792"/>
            <a:ext cx="1143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9933"/>
                </a:solidFill>
                <a:latin typeface="Aptos"/>
              </a:rPr>
              <a:t>Changed file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048256" y="5404104"/>
            <a:ext cx="768096" cy="0"/>
          </a:xfrm>
          <a:prstGeom prst="line">
            <a:avLst/>
          </a:prstGeom>
          <a:ln w="19050">
            <a:solidFill>
              <a:srgbClr val="FF9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862072" y="5193792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Recompute affected AST + content hash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376672" y="5404104"/>
            <a:ext cx="731520" cy="0"/>
          </a:xfrm>
          <a:prstGeom prst="line">
            <a:avLst/>
          </a:prstGeom>
          <a:ln w="19050">
            <a:solidFill>
              <a:srgbClr val="FF9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153912" y="5193792"/>
            <a:ext cx="221284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5F7FF"/>
                </a:solidFill>
                <a:latin typeface="Aptos"/>
              </a:rPr>
              <a:t>Invalidate dependent evidence only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412480" y="5404104"/>
            <a:ext cx="502920" cy="0"/>
          </a:xfrm>
          <a:prstGeom prst="line">
            <a:avLst/>
          </a:prstGeom>
          <a:ln w="19050">
            <a:solidFill>
              <a:srgbClr val="FF99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970264" y="5193792"/>
            <a:ext cx="11430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ADFF2F"/>
                </a:solidFill>
                <a:latin typeface="Aptos"/>
              </a:rPr>
              <a:t>Keep unrelated cards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6492240"/>
            <a:ext cx="8686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Selective invalidation preserves useful cache entries across unrelated commits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5560" y="6492240"/>
            <a:ext cx="14173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1">
                <a:solidFill>
                  <a:srgbClr val="00E5FF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4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FF2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5603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82880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5F7FF"/>
                </a:solidFill>
                <a:latin typeface="Aptos"/>
              </a:rPr>
              <a:t>Modeled optimization for one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749808"/>
            <a:ext cx="109728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7A0B5"/>
                </a:solidFill>
                <a:latin typeface="Aptos"/>
              </a:rPr>
              <a:t>Targets are directional until measured in a controlled pilot.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500" y="1165860"/>
            <a:ext cx="6583680" cy="4581144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188720"/>
            <a:ext cx="6537960" cy="4535424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44752"/>
            <a:ext cx="27432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E5FF"/>
                </a:solidFill>
                <a:latin typeface="Aptos"/>
              </a:rPr>
              <a:t>PER VERIFIED WARM HIT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30368" y="1472184"/>
            <a:ext cx="6400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2EC1"/>
                </a:solidFill>
                <a:latin typeface="Aptos"/>
              </a:rPr>
              <a:t>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472184"/>
            <a:ext cx="6400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ADFF2F"/>
                </a:solidFill>
                <a:latin typeface="Aptos"/>
              </a:rPr>
              <a:t>Warm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993392"/>
            <a:ext cx="144475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F5F7FF"/>
                </a:solidFill>
                <a:latin typeface="Aptos"/>
              </a:rPr>
              <a:t>Input tokens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59152" y="2011680"/>
            <a:ext cx="3511296" cy="109728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359152" y="2231136"/>
            <a:ext cx="3511296" cy="109728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359152" y="2011680"/>
            <a:ext cx="3511296" cy="109728"/>
          </a:xfrm>
          <a:prstGeom prst="roundRect">
            <a:avLst/>
          </a:prstGeom>
          <a:solidFill>
            <a:srgbClr val="FF2EC1"/>
          </a:solidFill>
          <a:ln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59152" y="2231136"/>
            <a:ext cx="658368" cy="109728"/>
          </a:xfrm>
          <a:prstGeom prst="roundRect">
            <a:avLst/>
          </a:prstGeom>
          <a:solidFill>
            <a:srgbClr val="ADFF2F"/>
          </a:solidFill>
          <a:ln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1947672"/>
            <a:ext cx="658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F2EC1"/>
                </a:solidFill>
                <a:latin typeface="Aptos"/>
              </a:rPr>
              <a:t>8000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167128"/>
            <a:ext cx="658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ADFF2F"/>
                </a:solidFill>
                <a:latin typeface="Aptos"/>
              </a:rPr>
              <a:t>1500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2743200"/>
            <a:ext cx="144475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F5F7FF"/>
                </a:solidFill>
                <a:latin typeface="Aptos"/>
              </a:rPr>
              <a:t>Latency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59152" y="2761488"/>
            <a:ext cx="3511296" cy="109728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359152" y="2980944"/>
            <a:ext cx="3511296" cy="109728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59152" y="2761488"/>
            <a:ext cx="3511296" cy="109728"/>
          </a:xfrm>
          <a:prstGeom prst="roundRect">
            <a:avLst/>
          </a:prstGeom>
          <a:solidFill>
            <a:srgbClr val="FF2EC1"/>
          </a:solidFill>
          <a:ln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359152" y="2980944"/>
            <a:ext cx="780288" cy="109728"/>
          </a:xfrm>
          <a:prstGeom prst="roundRect">
            <a:avLst/>
          </a:prstGeom>
          <a:solidFill>
            <a:srgbClr val="ADFF2F"/>
          </a:solidFill>
          <a:ln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2697480"/>
            <a:ext cx="658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F2EC1"/>
                </a:solidFill>
                <a:latin typeface="Aptos"/>
              </a:rPr>
              <a:t>18s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916936"/>
            <a:ext cx="658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ADFF2F"/>
                </a:solidFill>
                <a:latin typeface="Aptos"/>
              </a:rPr>
              <a:t>4s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3493008"/>
            <a:ext cx="1444752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F5F7FF"/>
                </a:solidFill>
                <a:latin typeface="Aptos"/>
              </a:rPr>
              <a:t>Tool calls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59152" y="3511296"/>
            <a:ext cx="3511296" cy="109728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359152" y="3730752"/>
            <a:ext cx="3511296" cy="109728"/>
          </a:xfrm>
          <a:prstGeom prst="roundRect">
            <a:avLst/>
          </a:prstGeom>
          <a:solidFill>
            <a:srgbClr val="131622"/>
          </a:solidFill>
          <a:ln w="6350">
            <a:solidFill>
              <a:srgbClr val="444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359152" y="3511296"/>
            <a:ext cx="3511296" cy="109728"/>
          </a:xfrm>
          <a:prstGeom prst="roundRect">
            <a:avLst/>
          </a:prstGeom>
          <a:solidFill>
            <a:srgbClr val="FF2EC1"/>
          </a:solidFill>
          <a:ln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359152" y="3730752"/>
            <a:ext cx="877824" cy="109728"/>
          </a:xfrm>
          <a:prstGeom prst="roundRect">
            <a:avLst/>
          </a:prstGeom>
          <a:solidFill>
            <a:srgbClr val="ADFF2F"/>
          </a:solidFill>
          <a:ln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3447288"/>
            <a:ext cx="658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FF2EC1"/>
                </a:solidFill>
                <a:latin typeface="Aptos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66744"/>
            <a:ext cx="658368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1">
                <a:solidFill>
                  <a:srgbClr val="ADFF2F"/>
                </a:solidFill>
                <a:latin typeface="Apto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" y="4297680"/>
            <a:ext cx="1417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00E5FF"/>
                </a:solidFill>
                <a:latin typeface="Aptos"/>
              </a:rPr>
              <a:t>81%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" y="4745736"/>
            <a:ext cx="1417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97A0B5"/>
                </a:solidFill>
                <a:latin typeface="Aptos"/>
              </a:rPr>
              <a:t>less tokens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9504" y="4297680"/>
            <a:ext cx="1417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FF2EC1"/>
                </a:solidFill>
                <a:latin typeface="Aptos"/>
              </a:rPr>
              <a:t>78%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9504" y="4745736"/>
            <a:ext cx="1417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97A0B5"/>
                </a:solidFill>
                <a:latin typeface="Aptos"/>
              </a:rPr>
              <a:t>less latency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1456" y="4297680"/>
            <a:ext cx="14173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ADFF2F"/>
                </a:solidFill>
                <a:latin typeface="Aptos"/>
              </a:rPr>
              <a:t>75%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91456" y="4745736"/>
            <a:ext cx="1417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97A0B5"/>
                </a:solidFill>
                <a:latin typeface="Aptos"/>
              </a:rPr>
              <a:t>less tool calls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56931" y="1165860"/>
            <a:ext cx="4160520" cy="4581144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479792" y="1188720"/>
            <a:ext cx="4114800" cy="4535424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54112" y="1444752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2EC1"/>
                </a:solidFill>
                <a:latin typeface="Aptos"/>
              </a:rPr>
              <a:t>ANNUAL ILLUSTRATION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1901952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00E5FF"/>
                </a:solidFill>
                <a:latin typeface="Aptos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2267712"/>
            <a:ext cx="13258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97A0B5"/>
                </a:solidFill>
                <a:latin typeface="Aptos"/>
              </a:rPr>
              <a:t>developers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45752" y="1901952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8B5CF6"/>
                </a:solidFill>
                <a:latin typeface="Aptos"/>
              </a:rPr>
              <a:t>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5752" y="2267712"/>
            <a:ext cx="13258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97A0B5"/>
                </a:solidFill>
                <a:latin typeface="Aptos"/>
              </a:rPr>
              <a:t>queries / day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889504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FF9933"/>
                </a:solidFill>
                <a:latin typeface="Aptos"/>
              </a:rPr>
              <a:t>220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3255264"/>
            <a:ext cx="13258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97A0B5"/>
                </a:solidFill>
                <a:latin typeface="Aptos"/>
              </a:rPr>
              <a:t>working days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45752" y="2889504"/>
            <a:ext cx="1325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ADFF2F"/>
                </a:solidFill>
                <a:latin typeface="Aptos"/>
              </a:rPr>
              <a:t>60%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45752" y="3255264"/>
            <a:ext cx="132588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97A0B5"/>
                </a:solidFill>
                <a:latin typeface="Aptos"/>
              </a:rPr>
              <a:t>verified reuse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54112" y="3986784"/>
            <a:ext cx="3547872" cy="18288"/>
          </a:xfrm>
          <a:prstGeom prst="rect">
            <a:avLst/>
          </a:prstGeom>
          <a:solidFill>
            <a:srgbClr val="FF2EC1"/>
          </a:solidFill>
          <a:ln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99831" y="4215384"/>
            <a:ext cx="1325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00E5FF"/>
                </a:solidFill>
                <a:latin typeface="Aptos"/>
              </a:rPr>
              <a:t>257M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07424" y="4297680"/>
            <a:ext cx="188366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F5F7FF"/>
                </a:solidFill>
                <a:latin typeface="Aptos"/>
              </a:rPr>
              <a:t>input tokens avoided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99831" y="4800600"/>
            <a:ext cx="1325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ADFF2F"/>
                </a:solidFill>
                <a:latin typeface="Aptos"/>
              </a:rPr>
              <a:t>356K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7424" y="4882896"/>
            <a:ext cx="1883664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F5F7FF"/>
                </a:solidFill>
                <a:latin typeface="Aptos"/>
              </a:rPr>
              <a:t>tool calls avoided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" y="6492240"/>
            <a:ext cx="8686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Savings exclude embedding generation, cache lookup, and storage overhead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95560" y="6492240"/>
            <a:ext cx="14173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1">
                <a:solidFill>
                  <a:srgbClr val="00E5FF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4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FF2E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256032"/>
            <a:ext cx="502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E5FF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182880"/>
            <a:ext cx="10698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5F7FF"/>
                </a:solidFill>
                <a:latin typeface="Aptos"/>
              </a:rPr>
              <a:t>Pilot plan: prove safe reuse before scaling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" y="1229868"/>
            <a:ext cx="2532888" cy="1892807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252728"/>
            <a:ext cx="2487168" cy="184708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44752"/>
            <a:ext cx="47548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E5FF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1417320"/>
            <a:ext cx="14081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F"/>
                </a:solidFill>
                <a:latin typeface="Aptos"/>
              </a:rPr>
              <a:t>INGEST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975104"/>
            <a:ext cx="204825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97A0B5"/>
                </a:solidFill>
                <a:latin typeface="Aptos"/>
              </a:rPr>
              <a:t>Index one C# repository
Files, symbols, AST, hashes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72384" y="2185416"/>
            <a:ext cx="292608" cy="0"/>
          </a:xfrm>
          <a:prstGeom prst="line">
            <a:avLst/>
          </a:prstGeom>
          <a:ln w="19050">
            <a:solidFill>
              <a:srgbClr val="00E5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6996" y="1229868"/>
            <a:ext cx="2532888" cy="1892807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9856" y="1252728"/>
            <a:ext cx="2487168" cy="184708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444752"/>
            <a:ext cx="47548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8B5CF6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4" y="1417320"/>
            <a:ext cx="14081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F"/>
                </a:solidFill>
                <a:latin typeface="Aptos"/>
              </a:rPr>
              <a:t>INTEGRATE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1975104"/>
            <a:ext cx="204825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97A0B5"/>
                </a:solidFill>
                <a:latin typeface="Aptos"/>
              </a:rPr>
              <a:t>Expose MCP tools
cache_lookup / record / explain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2185416"/>
            <a:ext cx="292608" cy="0"/>
          </a:xfrm>
          <a:prstGeom prst="line">
            <a:avLst/>
          </a:prstGeom>
          <a:ln w="1905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68212" y="1229868"/>
            <a:ext cx="2532888" cy="1892807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91072" y="1252728"/>
            <a:ext cx="2487168" cy="184708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444752"/>
            <a:ext cx="47548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FF2EC1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1417320"/>
            <a:ext cx="14081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F"/>
                </a:solidFill>
                <a:latin typeface="Aptos"/>
              </a:rPr>
              <a:t>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4" y="1975104"/>
            <a:ext cx="204825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97A0B5"/>
                </a:solidFill>
                <a:latin typeface="Aptos"/>
              </a:rPr>
              <a:t>Cold request
Warm rephrase
Selective invalidation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14816" y="2185416"/>
            <a:ext cx="292608" cy="0"/>
          </a:xfrm>
          <a:prstGeom prst="line">
            <a:avLst/>
          </a:prstGeom>
          <a:ln w="19050">
            <a:solidFill>
              <a:srgbClr val="FF2EC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39428" y="1229868"/>
            <a:ext cx="2532888" cy="1892807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252728"/>
            <a:ext cx="2487168" cy="1847088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1444752"/>
            <a:ext cx="475488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ADFF2F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12096" y="1417320"/>
            <a:ext cx="1408176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5F7FF"/>
                </a:solidFill>
                <a:latin typeface="Aptos"/>
              </a:rPr>
              <a:t>MEASURE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1975104"/>
            <a:ext cx="204825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97A0B5"/>
                </a:solidFill>
                <a:latin typeface="Aptos"/>
              </a:rPr>
              <a:t>Precision, hit rate
Tokens, latency, tool calls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3538728"/>
            <a:ext cx="1920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97A0B5"/>
                </a:solidFill>
                <a:latin typeface="Aptos"/>
              </a:rPr>
              <a:t>SUCCESS GATES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" y="3918203"/>
            <a:ext cx="2532888" cy="1143000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3941063"/>
            <a:ext cx="2487168" cy="1097280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4096512"/>
            <a:ext cx="11521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E5FF"/>
                </a:solidFill>
                <a:latin typeface="Aptos"/>
              </a:rPr>
              <a:t>&gt;=95%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39" y="4105656"/>
            <a:ext cx="104241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5F7FF"/>
                </a:solidFill>
                <a:latin typeface="Aptos"/>
              </a:rPr>
              <a:t>cache precision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24427" y="3918203"/>
            <a:ext cx="2532888" cy="1143000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47287" y="3941063"/>
            <a:ext cx="2487168" cy="1097280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2E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1" y="4096512"/>
            <a:ext cx="11521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2EC1"/>
                </a:solidFill>
                <a:latin typeface="Aptos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59" y="4105656"/>
            <a:ext cx="104241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5F7FF"/>
                </a:solidFill>
                <a:latin typeface="Aptos"/>
              </a:rPr>
              <a:t>known stale serves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3347" y="3918203"/>
            <a:ext cx="2532888" cy="1143000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36207" y="3941063"/>
            <a:ext cx="2487168" cy="1097280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ADF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82512" y="4096512"/>
            <a:ext cx="11521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ADFF2F"/>
                </a:solidFill>
                <a:latin typeface="Aptos"/>
              </a:rPr>
              <a:t>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105656"/>
            <a:ext cx="104241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5F7FF"/>
                </a:solidFill>
                <a:latin typeface="Aptos"/>
              </a:rPr>
              <a:t>citation coverage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2267" y="3918203"/>
            <a:ext cx="2532888" cy="1143000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25128" y="3941063"/>
            <a:ext cx="2487168" cy="1097280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1432" y="4096512"/>
            <a:ext cx="115214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9933"/>
                </a:solidFill>
                <a:latin typeface="Aptos"/>
              </a:rPr>
              <a:t>&lt;1s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87000" y="4105656"/>
            <a:ext cx="1042415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5F7FF"/>
                </a:solidFill>
                <a:latin typeface="Aptos"/>
              </a:rPr>
              <a:t>p95 lookup latency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58468" y="5417820"/>
            <a:ext cx="9262872" cy="667512"/>
          </a:xfrm>
          <a:prstGeom prst="roundRect">
            <a:avLst/>
          </a:prstGeom>
          <a:solidFill>
            <a:srgbClr val="080A10"/>
          </a:solidFill>
          <a:ln w="381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481328" y="5440680"/>
            <a:ext cx="9217152" cy="621792"/>
          </a:xfrm>
          <a:prstGeom prst="roundRect">
            <a:avLst/>
          </a:prstGeom>
          <a:solidFill>
            <a:srgbClr val="0D1019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568696"/>
            <a:ext cx="87050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5F7FF"/>
                </a:solidFill>
                <a:latin typeface="Aptos"/>
              </a:rPr>
              <a:t>North star: less repository exploration and smaller LLM context - without serving stale code knowledge.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6492240"/>
            <a:ext cx="86868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97A0B5"/>
                </a:solidFill>
                <a:latin typeface="Aptos"/>
              </a:rPr>
              <a:t>Start with file explanation and dependency tracing; expand only after measured precision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5560" y="6492240"/>
            <a:ext cx="14173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1">
                <a:solidFill>
                  <a:srgbClr val="00E5FF"/>
                </a:solidFill>
                <a:latin typeface="Aptos"/>
              </a:rPr>
              <a:t>AgentCacheX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