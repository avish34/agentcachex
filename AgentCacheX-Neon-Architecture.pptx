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multiple developers repeat read-only lookups against the same repository and send oversized results to their agents. Share version-qualified tool results and return only needed detail. Any programming language means a neutral provider-result boundary, not universal semantic understanding.</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exact cache alone can reduce repeated backend work while returning the same oversized payload. A token optimizer can help even on a cold cache miss. Existing providers may already cache and bound results; compare against those features.</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already have glob/file discovery, text search, reads, and sometimes semantic indexes, definitions, references, and call graphs. AgentCacheX reuses the chosen provider. The initial git-grep adapter produces lexical text matches, not proven references. Roslyn is C#-specific and is not an MVP dependency.</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Developers use separate sessions/checkouts and explicitly configured MCP tools. The proposed ASP.NET Core/MCP host authenticates and authorizes each request and resolves the actual provider snapshot. A retained hit goes to the optimizer; a miss runs the existing provider, stores its full captured response, and then optimizes it too. Redis holds immutable payloads, pointers, expiry, and miss-coalescing leases. One service and one Redis instance demonstrate shared use, not high availability. MCP registration does not automatically intercept unrelated tools.</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hit requires the same repository, actual source/index snapshot, provider/tool version, canonical upstream arguments, effective access/policy scope, and result schema. Do not partition every key by username or preview budget. Include upstream limits and cursors that actually alter results. Changed commits create new keys, even for unrelated changes. Matching a paraphrased question is not a semantic-cache feature.</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ARITHMETIC ONLY: 10,000 raw tool tokens versus 300 preview plus 1,200 selected-detail tokens is 1,500 emitted payload tokens, an 85% reduction in this example. This is not a measured result or total model-input/billed-cost reduction. Count all model turns, repeated history, prompts, tool definitions, output tokens, and provider pricing. If all details are needed, savings may disappear. Full captured response can be only one upstream page; preserve the provider's completeness and continuation metadata.</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signatures: search_compact(query, scope, response_budget, mode='preview', cursor=null); fetch_details(result_set_id, selections, response_budget, cursor=null). Both return source snapshot, expiry, coverage/continuation, and budget usage. Response budgets include metadata; exact token claims require the matching tokenizer, otherwise use an explicitly selected byte bound and labeled estimate. R17 and S1 are illustrative handles. For text not retained in the search result, perform and count an explicit source read pinned to the same revision, or report an unavailable snapshot. Never assume earlier excerpts survived compaction or delegation.</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 actual searched revision, not model-supplied clean=true or commit hints. Dirty/unsaved or unknown workspace requests bypass shared reuse; if the provider cannot represent them, return UNSUPPORTED_SOURCE_STATE, not silently committed HEAD. Reauthorize every search/detail/page, including permission revocations. Snapshot mismatches, source unavailability, provider failures, and Redis failures are explicit. TTL is retention, not freshness. Preserve exact source text and meaningful provider fields. Complete mode must paginate, not silently top-k or claim grep is semantic.</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repository and one existing provider. A .NET host is an implementation option, not a source-language restriction. Share a service, not a live database through OneDrive. Use bounded memory, TTL, entry size and response limits. Coalesce same-key misses with owner-checked expiring leases, bounded waits, and complete payload publication. This is not an exactly-once or high-availability claim. No owned Roslyn/LSP adapters, AST matching, embeddings, vector/graph database, evidence cards, dependency invalidation, or answer/patch/shell replay is needed.</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two separate developer/agent sessions against one shared service. Cases: cold A, warm B with same and different preview budgets, changed snapshot, dirty/unknown state, unauthorized/revoked access, expiration, concurrent misses, complete-mode pagination, and oversized detail batches. Compare native bounded provider output, optimizer-only, and optimizer-plus-cache with the same source/model/task. Count backend searches AND pinned detail reads, all model input/output across all turns, latency, costs, and answer quality. Fast grep may not gain latency from Redis. Accept only correct access/source/completeness behavior, no material quality regression, and worthwhile measured benefit. No annual ROI or measured savings exists yet.</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THE IDEA</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AgentCacheX</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01</a:t>
            </a:r>
          </a:p>
        </p:txBody>
      </p:sp>
      <p:sp>
        <p:nvSpPr>
          <p:cNvPr id="7" name="TextBox 6"/>
          <p:cNvSpPr txBox="1"/>
          <p:nvPr/>
        </p:nvSpPr>
        <p:spPr>
          <a:xfrm>
            <a:off x="594360" y="1828800"/>
            <a:ext cx="10972800" cy="1691640"/>
          </a:xfrm>
          <a:prstGeom prst="rect">
            <a:avLst/>
          </a:prstGeom>
          <a:noFill/>
        </p:spPr>
        <p:txBody>
          <a:bodyPr wrap="square" lIns="0" rIns="0" tIns="0" bIns="0">
            <a:noAutofit/>
          </a:bodyPr>
          <a:lstStyle/>
          <a:p>
            <a:pPr>
              <a:lnSpc>
                <a:spcPct val="110000"/>
              </a:lnSpc>
              <a:spcBef>
                <a:spcPts val="0"/>
              </a:spcBef>
              <a:spcAft>
                <a:spcPts val="400"/>
              </a:spcAft>
              <a:defRPr sz="4800" b="1">
                <a:solidFill>
                  <a:srgbClr val="F7F1FF"/>
                </a:solidFill>
                <a:latin typeface="Segoe UI"/>
              </a:defRPr>
            </a:pPr>
            <a:r>
              <a:t>Shared cache.</a:t>
            </a:r>
          </a:p>
          <a:p>
            <a:pPr>
              <a:lnSpc>
                <a:spcPct val="110000"/>
              </a:lnSpc>
              <a:spcBef>
                <a:spcPts val="0"/>
              </a:spcBef>
              <a:spcAft>
                <a:spcPts val="0"/>
              </a:spcAft>
              <a:defRPr sz="4800" b="1">
                <a:solidFill>
                  <a:srgbClr val="F7F1FF"/>
                </a:solidFill>
                <a:latin typeface="Segoe UI"/>
              </a:defRPr>
            </a:pPr>
            <a:r>
              <a:t>Smaller context.</a:t>
            </a:r>
          </a:p>
        </p:txBody>
      </p:sp>
      <p:sp>
        <p:nvSpPr>
          <p:cNvPr id="8" name="TextBox 7"/>
          <p:cNvSpPr txBox="1"/>
          <p:nvPr/>
        </p:nvSpPr>
        <p:spPr>
          <a:xfrm>
            <a:off x="594360" y="3730752"/>
            <a:ext cx="10972800" cy="594360"/>
          </a:xfrm>
          <a:prstGeom prst="rect">
            <a:avLst/>
          </a:prstGeom>
          <a:noFill/>
        </p:spPr>
        <p:txBody>
          <a:bodyPr wrap="square" lIns="0" rIns="0" tIns="0" bIns="0">
            <a:noAutofit/>
          </a:bodyPr>
          <a:lstStyle/>
          <a:p>
            <a:pPr>
              <a:lnSpc>
                <a:spcPct val="110000"/>
              </a:lnSpc>
              <a:spcBef>
                <a:spcPts val="0"/>
              </a:spcBef>
              <a:spcAft>
                <a:spcPts val="0"/>
              </a:spcAft>
              <a:defRPr sz="2300" b="0">
                <a:solidFill>
                  <a:srgbClr val="C4B7D7"/>
                </a:solidFill>
                <a:latin typeface="Segoe UI"/>
              </a:defRPr>
            </a:pPr>
            <a:r>
              <a:t>One repository. Multiple developers. Any programming language.</a:t>
            </a:r>
          </a:p>
        </p:txBody>
      </p:sp>
      <p:sp>
        <p:nvSpPr>
          <p:cNvPr id="9" name="Rounded Rectangle 8"/>
          <p:cNvSpPr/>
          <p:nvPr/>
        </p:nvSpPr>
        <p:spPr>
          <a:xfrm>
            <a:off x="594360" y="4800600"/>
            <a:ext cx="3474720" cy="118872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001768"/>
            <a:ext cx="3072384" cy="347472"/>
          </a:xfrm>
          <a:prstGeom prst="rect">
            <a:avLst/>
          </a:prstGeom>
          <a:noFill/>
        </p:spPr>
        <p:txBody>
          <a:bodyPr wrap="square" lIns="0" rIns="0" tIns="0" bIns="0">
            <a:noAutofit/>
          </a:bodyPr>
          <a:lstStyle/>
          <a:p>
            <a:pPr>
              <a:lnSpc>
                <a:spcPct val="110000"/>
              </a:lnSpc>
              <a:spcBef>
                <a:spcPts val="0"/>
              </a:spcBef>
              <a:spcAft>
                <a:spcPts val="0"/>
              </a:spcAft>
              <a:defRPr sz="1900" b="1">
                <a:solidFill>
                  <a:srgbClr val="C486FF"/>
                </a:solidFill>
                <a:latin typeface="Segoe UI"/>
              </a:defRPr>
            </a:pPr>
            <a:r>
              <a:t>SHARE RESULTS</a:t>
            </a:r>
          </a:p>
        </p:txBody>
      </p:sp>
      <p:sp>
        <p:nvSpPr>
          <p:cNvPr id="11" name="TextBox 10"/>
          <p:cNvSpPr txBox="1"/>
          <p:nvPr/>
        </p:nvSpPr>
        <p:spPr>
          <a:xfrm>
            <a:off x="795528" y="5486400"/>
            <a:ext cx="3072384" cy="457200"/>
          </a:xfrm>
          <a:prstGeom prst="rect">
            <a:avLst/>
          </a:prstGeom>
          <a:noFill/>
        </p:spPr>
        <p:txBody>
          <a:bodyPr wrap="square" lIns="0" rIns="0" tIns="0" bIns="0">
            <a:noAutofit/>
          </a:bodyPr>
          <a:lstStyle/>
          <a:p>
            <a:pPr>
              <a:lnSpc>
                <a:spcPct val="110000"/>
              </a:lnSpc>
              <a:spcBef>
                <a:spcPts val="0"/>
              </a:spcBef>
              <a:spcAft>
                <a:spcPts val="0"/>
              </a:spcAft>
              <a:defRPr sz="1600" b="0">
                <a:solidFill>
                  <a:srgbClr val="F7F1FF"/>
                </a:solidFill>
                <a:latin typeface="Segoe UI"/>
              </a:defRPr>
            </a:pPr>
            <a:r>
              <a:t>One MCP service + Redis</a:t>
            </a:r>
          </a:p>
        </p:txBody>
      </p:sp>
      <p:sp>
        <p:nvSpPr>
          <p:cNvPr id="12" name="Rounded Rectangle 11"/>
          <p:cNvSpPr/>
          <p:nvPr/>
        </p:nvSpPr>
        <p:spPr>
          <a:xfrm>
            <a:off x="4361688" y="4800600"/>
            <a:ext cx="3474720" cy="118872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5" y="5001768"/>
            <a:ext cx="3072384" cy="347472"/>
          </a:xfrm>
          <a:prstGeom prst="rect">
            <a:avLst/>
          </a:prstGeom>
          <a:noFill/>
        </p:spPr>
        <p:txBody>
          <a:bodyPr wrap="square" lIns="0" rIns="0" tIns="0" bIns="0">
            <a:noAutofit/>
          </a:bodyPr>
          <a:lstStyle/>
          <a:p>
            <a:pPr>
              <a:lnSpc>
                <a:spcPct val="110000"/>
              </a:lnSpc>
              <a:spcBef>
                <a:spcPts val="0"/>
              </a:spcBef>
              <a:spcAft>
                <a:spcPts val="0"/>
              </a:spcAft>
              <a:defRPr sz="1900" b="1">
                <a:solidFill>
                  <a:srgbClr val="C486FF"/>
                </a:solidFill>
                <a:latin typeface="Segoe UI"/>
              </a:defRPr>
            </a:pPr>
            <a:r>
              <a:t>SEND LESS</a:t>
            </a:r>
          </a:p>
        </p:txBody>
      </p:sp>
      <p:sp>
        <p:nvSpPr>
          <p:cNvPr id="14" name="TextBox 13"/>
          <p:cNvSpPr txBox="1"/>
          <p:nvPr/>
        </p:nvSpPr>
        <p:spPr>
          <a:xfrm>
            <a:off x="4562855" y="5486400"/>
            <a:ext cx="3072384" cy="457200"/>
          </a:xfrm>
          <a:prstGeom prst="rect">
            <a:avLst/>
          </a:prstGeom>
          <a:noFill/>
        </p:spPr>
        <p:txBody>
          <a:bodyPr wrap="square" lIns="0" rIns="0" tIns="0" bIns="0">
            <a:noAutofit/>
          </a:bodyPr>
          <a:lstStyle/>
          <a:p>
            <a:pPr>
              <a:lnSpc>
                <a:spcPct val="110000"/>
              </a:lnSpc>
              <a:spcBef>
                <a:spcPts val="0"/>
              </a:spcBef>
              <a:spcAft>
                <a:spcPts val="0"/>
              </a:spcAft>
              <a:defRPr sz="1600" b="0">
                <a:solidFill>
                  <a:srgbClr val="F7F1FF"/>
                </a:solidFill>
                <a:latin typeface="Segoe UI"/>
              </a:defRPr>
            </a:pPr>
            <a:r>
              <a:t>Preview + selected details</a:t>
            </a:r>
          </a:p>
        </p:txBody>
      </p:sp>
      <p:sp>
        <p:nvSpPr>
          <p:cNvPr id="15" name="Rounded Rectangle 14"/>
          <p:cNvSpPr/>
          <p:nvPr/>
        </p:nvSpPr>
        <p:spPr>
          <a:xfrm>
            <a:off x="8129016" y="4800600"/>
            <a:ext cx="3474720" cy="118872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4" y="5001768"/>
            <a:ext cx="3072384" cy="347472"/>
          </a:xfrm>
          <a:prstGeom prst="rect">
            <a:avLst/>
          </a:prstGeom>
          <a:noFill/>
        </p:spPr>
        <p:txBody>
          <a:bodyPr wrap="square" lIns="0" rIns="0" tIns="0" bIns="0">
            <a:noAutofit/>
          </a:bodyPr>
          <a:lstStyle/>
          <a:p>
            <a:pPr>
              <a:lnSpc>
                <a:spcPct val="110000"/>
              </a:lnSpc>
              <a:spcBef>
                <a:spcPts val="0"/>
              </a:spcBef>
              <a:spcAft>
                <a:spcPts val="0"/>
              </a:spcAft>
              <a:defRPr sz="1900" b="1">
                <a:solidFill>
                  <a:srgbClr val="C486FF"/>
                </a:solidFill>
                <a:latin typeface="Segoe UI"/>
              </a:defRPr>
            </a:pPr>
            <a:r>
              <a:t>REUSE TOOLS</a:t>
            </a:r>
          </a:p>
        </p:txBody>
      </p:sp>
      <p:sp>
        <p:nvSpPr>
          <p:cNvPr id="17" name="TextBox 16"/>
          <p:cNvSpPr txBox="1"/>
          <p:nvPr/>
        </p:nvSpPr>
        <p:spPr>
          <a:xfrm>
            <a:off x="8330184" y="5486400"/>
            <a:ext cx="3072384" cy="457200"/>
          </a:xfrm>
          <a:prstGeom prst="rect">
            <a:avLst/>
          </a:prstGeom>
          <a:noFill/>
        </p:spPr>
        <p:txBody>
          <a:bodyPr wrap="square" lIns="0" rIns="0" tIns="0" bIns="0">
            <a:noAutofit/>
          </a:bodyPr>
          <a:lstStyle/>
          <a:p>
            <a:pPr>
              <a:lnSpc>
                <a:spcPct val="110000"/>
              </a:lnSpc>
              <a:spcBef>
                <a:spcPts val="0"/>
              </a:spcBef>
              <a:spcAft>
                <a:spcPts val="0"/>
              </a:spcAft>
              <a:defRPr sz="1600" b="0">
                <a:solidFill>
                  <a:srgbClr val="F7F1FF"/>
                </a:solidFill>
                <a:latin typeface="Segoe UI"/>
              </a:defRPr>
            </a:pPr>
            <a:r>
              <a:t>No new code-analysis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THE PROBLEM</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Two costs. One focused problem.</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02</a:t>
            </a:r>
          </a:p>
        </p:txBody>
      </p:sp>
      <p:sp>
        <p:nvSpPr>
          <p:cNvPr id="7" name="Rounded Rectangle 6"/>
          <p:cNvSpPr/>
          <p:nvPr/>
        </p:nvSpPr>
        <p:spPr>
          <a:xfrm>
            <a:off x="594360" y="2057400"/>
            <a:ext cx="5340096" cy="27432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5856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C486FF"/>
                </a:solidFill>
                <a:latin typeface="Segoe UI"/>
              </a:defRPr>
            </a:pPr>
            <a:r>
              <a:t>Duplicate lookups</a:t>
            </a:r>
          </a:p>
        </p:txBody>
      </p:sp>
      <p:sp>
        <p:nvSpPr>
          <p:cNvPr id="9" name="TextBox 8"/>
          <p:cNvSpPr txBox="1"/>
          <p:nvPr/>
        </p:nvSpPr>
        <p:spPr>
          <a:xfrm>
            <a:off x="813816" y="3081528"/>
            <a:ext cx="4901183" cy="1517904"/>
          </a:xfrm>
          <a:prstGeom prst="rect">
            <a:avLst/>
          </a:prstGeom>
          <a:noFill/>
        </p:spPr>
        <p:txBody>
          <a:bodyPr wrap="square" lIns="0" rIns="0" tIns="0" bIns="0">
            <a:noAutofit/>
          </a:bodyPr>
          <a:lstStyle/>
          <a:p>
            <a:pPr>
              <a:lnSpc>
                <a:spcPct val="110000"/>
              </a:lnSpc>
              <a:spcBef>
                <a:spcPts val="0"/>
              </a:spcBef>
              <a:spcAft>
                <a:spcPts val="400"/>
              </a:spcAft>
              <a:defRPr sz="2300" b="0">
                <a:solidFill>
                  <a:srgbClr val="F7F1FF"/>
                </a:solidFill>
                <a:latin typeface="Segoe UI"/>
              </a:defRPr>
            </a:pPr>
            <a:r>
              <a:t>We already searched this revision.</a:t>
            </a:r>
          </a:p>
          <a:p>
            <a:pPr>
              <a:lnSpc>
                <a:spcPct val="110000"/>
              </a:lnSpc>
              <a:spcBef>
                <a:spcPts val="0"/>
              </a:spcBef>
              <a:spcAft>
                <a:spcPts val="0"/>
              </a:spcAft>
              <a:defRPr sz="2300" b="0">
                <a:solidFill>
                  <a:srgbClr val="F7F1FF"/>
                </a:solidFill>
                <a:latin typeface="Segoe UI"/>
              </a:defRPr>
            </a:pPr>
            <a:r>
              <a:t>Another developer asks the same tool.</a:t>
            </a:r>
          </a:p>
        </p:txBody>
      </p:sp>
      <p:sp>
        <p:nvSpPr>
          <p:cNvPr id="10" name="Rounded Rectangle 9"/>
          <p:cNvSpPr/>
          <p:nvPr/>
        </p:nvSpPr>
        <p:spPr>
          <a:xfrm>
            <a:off x="6254496" y="2057400"/>
            <a:ext cx="5340096" cy="27432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25856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C486FF"/>
                </a:solidFill>
                <a:latin typeface="Segoe UI"/>
              </a:defRPr>
            </a:pPr>
            <a:r>
              <a:t>Oversized context</a:t>
            </a:r>
          </a:p>
        </p:txBody>
      </p:sp>
      <p:sp>
        <p:nvSpPr>
          <p:cNvPr id="12" name="TextBox 11"/>
          <p:cNvSpPr txBox="1"/>
          <p:nvPr/>
        </p:nvSpPr>
        <p:spPr>
          <a:xfrm>
            <a:off x="6473952" y="3081528"/>
            <a:ext cx="4901183" cy="1517904"/>
          </a:xfrm>
          <a:prstGeom prst="rect">
            <a:avLst/>
          </a:prstGeom>
          <a:noFill/>
        </p:spPr>
        <p:txBody>
          <a:bodyPr wrap="square" lIns="0" rIns="0" tIns="0" bIns="0">
            <a:noAutofit/>
          </a:bodyPr>
          <a:lstStyle/>
          <a:p>
            <a:pPr>
              <a:lnSpc>
                <a:spcPct val="110000"/>
              </a:lnSpc>
              <a:spcBef>
                <a:spcPts val="0"/>
              </a:spcBef>
              <a:spcAft>
                <a:spcPts val="400"/>
              </a:spcAft>
              <a:defRPr sz="2300" b="0">
                <a:solidFill>
                  <a:srgbClr val="F7F1FF"/>
                </a:solidFill>
                <a:latin typeface="Segoe UI"/>
              </a:defRPr>
            </a:pPr>
            <a:r>
              <a:t>The agent receives every match.</a:t>
            </a:r>
          </a:p>
          <a:p>
            <a:pPr>
              <a:lnSpc>
                <a:spcPct val="110000"/>
              </a:lnSpc>
              <a:spcBef>
                <a:spcPts val="0"/>
              </a:spcBef>
              <a:spcAft>
                <a:spcPts val="0"/>
              </a:spcAft>
              <a:defRPr sz="2300" b="0">
                <a:solidFill>
                  <a:srgbClr val="F7F1FF"/>
                </a:solidFill>
                <a:latin typeface="Segoe UI"/>
              </a:defRPr>
            </a:pPr>
            <a:r>
              <a:t>It only needs two source snippets.</a:t>
            </a:r>
          </a:p>
        </p:txBody>
      </p:sp>
      <p:sp>
        <p:nvSpPr>
          <p:cNvPr id="13" name="TextBox 12"/>
          <p:cNvSpPr txBox="1"/>
          <p:nvPr/>
        </p:nvSpPr>
        <p:spPr>
          <a:xfrm>
            <a:off x="731520" y="5349240"/>
            <a:ext cx="10789920" cy="640080"/>
          </a:xfrm>
          <a:prstGeom prst="rect">
            <a:avLst/>
          </a:prstGeom>
          <a:noFill/>
        </p:spPr>
        <p:txBody>
          <a:bodyPr wrap="square" lIns="0" rIns="0" tIns="0" bIns="0">
            <a:noAutofit/>
          </a:bodyPr>
          <a:lstStyle/>
          <a:p>
            <a:pPr>
              <a:lnSpc>
                <a:spcPct val="110000"/>
              </a:lnSpc>
              <a:spcBef>
                <a:spcPts val="0"/>
              </a:spcBef>
              <a:spcAft>
                <a:spcPts val="0"/>
              </a:spcAft>
              <a:defRPr sz="2700" b="1">
                <a:solidFill>
                  <a:srgbClr val="45E7CD"/>
                </a:solidFill>
                <a:latin typeface="Segoe UI"/>
              </a:defRPr>
            </a:pPr>
            <a:r>
              <a:t>Cache the work. Optimize what reaches the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THE BOUNDARY</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Wrap existing tools. Do not rebuild them.</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03</a:t>
            </a:r>
          </a:p>
        </p:txBody>
      </p:sp>
      <p:sp>
        <p:nvSpPr>
          <p:cNvPr id="7" name="Rounded Rectangle 6"/>
          <p:cNvSpPr/>
          <p:nvPr/>
        </p:nvSpPr>
        <p:spPr>
          <a:xfrm>
            <a:off x="594360" y="2057400"/>
            <a:ext cx="3474720" cy="338328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58568"/>
            <a:ext cx="3035808" cy="749808"/>
          </a:xfrm>
          <a:prstGeom prst="rect">
            <a:avLst/>
          </a:prstGeom>
          <a:noFill/>
        </p:spPr>
        <p:txBody>
          <a:bodyPr wrap="square" lIns="0" rIns="0" tIns="0" bIns="0">
            <a:noAutofit/>
          </a:bodyPr>
          <a:lstStyle/>
          <a:p>
            <a:pPr>
              <a:lnSpc>
                <a:spcPct val="110000"/>
              </a:lnSpc>
              <a:spcBef>
                <a:spcPts val="0"/>
              </a:spcBef>
              <a:spcAft>
                <a:spcPts val="0"/>
              </a:spcAft>
              <a:defRPr sz="2400" b="1">
                <a:solidFill>
                  <a:srgbClr val="C486FF"/>
                </a:solidFill>
                <a:latin typeface="Segoe UI"/>
              </a:defRPr>
            </a:pPr>
            <a:r>
              <a:t>Existing tools</a:t>
            </a:r>
          </a:p>
        </p:txBody>
      </p:sp>
      <p:sp>
        <p:nvSpPr>
          <p:cNvPr id="9" name="TextBox 8"/>
          <p:cNvSpPr txBox="1"/>
          <p:nvPr/>
        </p:nvSpPr>
        <p:spPr>
          <a:xfrm>
            <a:off x="813816" y="3081528"/>
            <a:ext cx="3035808" cy="2157984"/>
          </a:xfrm>
          <a:prstGeom prst="rect">
            <a:avLst/>
          </a:prstGeom>
          <a:noFill/>
        </p:spPr>
        <p:txBody>
          <a:bodyPr wrap="square" lIns="0" rIns="0" tIns="0" bIns="0">
            <a:noAutofit/>
          </a:bodyPr>
          <a:lstStyle/>
          <a:p>
            <a:pPr>
              <a:lnSpc>
                <a:spcPct val="110000"/>
              </a:lnSpc>
              <a:spcBef>
                <a:spcPts val="0"/>
              </a:spcBef>
              <a:spcAft>
                <a:spcPts val="400"/>
              </a:spcAft>
              <a:defRPr sz="2000" b="0">
                <a:solidFill>
                  <a:srgbClr val="F7F1FF"/>
                </a:solidFill>
                <a:latin typeface="Segoe UI"/>
              </a:defRPr>
            </a:pPr>
            <a:r>
              <a:t>File search, text search,</a:t>
            </a:r>
          </a:p>
          <a:p>
            <a:pPr>
              <a:lnSpc>
                <a:spcPct val="110000"/>
              </a:lnSpc>
              <a:spcBef>
                <a:spcPts val="0"/>
              </a:spcBef>
              <a:spcAft>
                <a:spcPts val="400"/>
              </a:spcAft>
              <a:defRPr sz="2000" b="0">
                <a:solidFill>
                  <a:srgbClr val="F7F1FF"/>
                </a:solidFill>
                <a:latin typeface="Segoe UI"/>
              </a:defRPr>
            </a:pPr>
            <a:r>
              <a:t>and source reads.</a:t>
            </a:r>
          </a:p>
          <a:p>
            <a:pPr>
              <a:lnSpc>
                <a:spcPct val="110000"/>
              </a:lnSpc>
              <a:spcBef>
                <a:spcPts val="0"/>
              </a:spcBef>
              <a:spcAft>
                <a:spcPts val="0"/>
              </a:spcAft>
              <a:defRPr sz="2000" b="0">
                <a:solidFill>
                  <a:srgbClr val="F7F1FF"/>
                </a:solidFill>
                <a:latin typeface="Segoe UI"/>
              </a:defRPr>
            </a:pPr>
            <a:r>
              <a:t>Keep their native capabilities.</a:t>
            </a:r>
          </a:p>
        </p:txBody>
      </p:sp>
      <p:sp>
        <p:nvSpPr>
          <p:cNvPr id="10" name="Rounded Rectangle 9"/>
          <p:cNvSpPr/>
          <p:nvPr/>
        </p:nvSpPr>
        <p:spPr>
          <a:xfrm>
            <a:off x="4361688" y="2057400"/>
            <a:ext cx="3474720" cy="338328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2258568"/>
            <a:ext cx="3035808" cy="749808"/>
          </a:xfrm>
          <a:prstGeom prst="rect">
            <a:avLst/>
          </a:prstGeom>
          <a:noFill/>
        </p:spPr>
        <p:txBody>
          <a:bodyPr wrap="square" lIns="0" rIns="0" tIns="0" bIns="0">
            <a:noAutofit/>
          </a:bodyPr>
          <a:lstStyle/>
          <a:p>
            <a:pPr>
              <a:lnSpc>
                <a:spcPct val="110000"/>
              </a:lnSpc>
              <a:spcBef>
                <a:spcPts val="0"/>
              </a:spcBef>
              <a:spcAft>
                <a:spcPts val="0"/>
              </a:spcAft>
              <a:defRPr sz="2400" b="1">
                <a:solidFill>
                  <a:srgbClr val="C486FF"/>
                </a:solidFill>
                <a:latin typeface="Segoe UI"/>
              </a:defRPr>
            </a:pPr>
            <a:r>
              <a:t>Our wrapper</a:t>
            </a:r>
          </a:p>
        </p:txBody>
      </p:sp>
      <p:sp>
        <p:nvSpPr>
          <p:cNvPr id="12" name="TextBox 11"/>
          <p:cNvSpPr txBox="1"/>
          <p:nvPr/>
        </p:nvSpPr>
        <p:spPr>
          <a:xfrm>
            <a:off x="4581144" y="3081528"/>
            <a:ext cx="3035808" cy="2157984"/>
          </a:xfrm>
          <a:prstGeom prst="rect">
            <a:avLst/>
          </a:prstGeom>
          <a:noFill/>
        </p:spPr>
        <p:txBody>
          <a:bodyPr wrap="square" lIns="0" rIns="0" tIns="0" bIns="0">
            <a:noAutofit/>
          </a:bodyPr>
          <a:lstStyle/>
          <a:p>
            <a:pPr>
              <a:lnSpc>
                <a:spcPct val="110000"/>
              </a:lnSpc>
              <a:spcBef>
                <a:spcPts val="0"/>
              </a:spcBef>
              <a:spcAft>
                <a:spcPts val="400"/>
              </a:spcAft>
              <a:defRPr sz="2000" b="0">
                <a:solidFill>
                  <a:srgbClr val="F7F1FF"/>
                </a:solidFill>
                <a:latin typeface="Segoe UI"/>
              </a:defRPr>
            </a:pPr>
            <a:r>
              <a:t>Shared result reuse.</a:t>
            </a:r>
          </a:p>
          <a:p>
            <a:pPr>
              <a:lnSpc>
                <a:spcPct val="110000"/>
              </a:lnSpc>
              <a:spcBef>
                <a:spcPts val="0"/>
              </a:spcBef>
              <a:spcAft>
                <a:spcPts val="400"/>
              </a:spcAft>
              <a:defRPr sz="2000" b="0">
                <a:solidFill>
                  <a:srgbClr val="F7F1FF"/>
                </a:solidFill>
                <a:latin typeface="Segoe UI"/>
              </a:defRPr>
            </a:pPr>
            <a:r>
              <a:t>Compact previews.</a:t>
            </a:r>
          </a:p>
          <a:p>
            <a:pPr>
              <a:lnSpc>
                <a:spcPct val="110000"/>
              </a:lnSpc>
              <a:spcBef>
                <a:spcPts val="0"/>
              </a:spcBef>
              <a:spcAft>
                <a:spcPts val="0"/>
              </a:spcAft>
              <a:defRPr sz="2000" b="0">
                <a:solidFill>
                  <a:srgbClr val="F7F1FF"/>
                </a:solidFill>
                <a:latin typeface="Segoe UI"/>
              </a:defRPr>
            </a:pPr>
            <a:r>
              <a:t>Batched selected details.</a:t>
            </a:r>
          </a:p>
        </p:txBody>
      </p:sp>
      <p:sp>
        <p:nvSpPr>
          <p:cNvPr id="13" name="Rounded Rectangle 12"/>
          <p:cNvSpPr/>
          <p:nvPr/>
        </p:nvSpPr>
        <p:spPr>
          <a:xfrm>
            <a:off x="8129016" y="2057400"/>
            <a:ext cx="3474720" cy="338328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8472" y="2258568"/>
            <a:ext cx="3035808" cy="749808"/>
          </a:xfrm>
          <a:prstGeom prst="rect">
            <a:avLst/>
          </a:prstGeom>
          <a:noFill/>
        </p:spPr>
        <p:txBody>
          <a:bodyPr wrap="square" lIns="0" rIns="0" tIns="0" bIns="0">
            <a:noAutofit/>
          </a:bodyPr>
          <a:lstStyle/>
          <a:p>
            <a:pPr>
              <a:lnSpc>
                <a:spcPct val="110000"/>
              </a:lnSpc>
              <a:spcBef>
                <a:spcPts val="0"/>
              </a:spcBef>
              <a:spcAft>
                <a:spcPts val="0"/>
              </a:spcAft>
              <a:defRPr sz="2400" b="1">
                <a:solidFill>
                  <a:srgbClr val="C486FF"/>
                </a:solidFill>
                <a:latin typeface="Segoe UI"/>
              </a:defRPr>
            </a:pPr>
            <a:r>
              <a:t>Not our engine</a:t>
            </a:r>
          </a:p>
        </p:txBody>
      </p:sp>
      <p:sp>
        <p:nvSpPr>
          <p:cNvPr id="15" name="TextBox 14"/>
          <p:cNvSpPr txBox="1"/>
          <p:nvPr/>
        </p:nvSpPr>
        <p:spPr>
          <a:xfrm>
            <a:off x="8348472" y="3081528"/>
            <a:ext cx="3035808" cy="2157984"/>
          </a:xfrm>
          <a:prstGeom prst="rect">
            <a:avLst/>
          </a:prstGeom>
          <a:noFill/>
        </p:spPr>
        <p:txBody>
          <a:bodyPr wrap="square" lIns="0" rIns="0" tIns="0" bIns="0">
            <a:noAutofit/>
          </a:bodyPr>
          <a:lstStyle/>
          <a:p>
            <a:pPr>
              <a:lnSpc>
                <a:spcPct val="110000"/>
              </a:lnSpc>
              <a:spcBef>
                <a:spcPts val="0"/>
              </a:spcBef>
              <a:spcAft>
                <a:spcPts val="400"/>
              </a:spcAft>
              <a:defRPr sz="2000" b="0">
                <a:solidFill>
                  <a:srgbClr val="F7F1FF"/>
                </a:solidFill>
                <a:latin typeface="Segoe UI"/>
              </a:defRPr>
            </a:pPr>
            <a:r>
              <a:t>No custom semantic analysis.</a:t>
            </a:r>
          </a:p>
          <a:p>
            <a:pPr>
              <a:lnSpc>
                <a:spcPct val="110000"/>
              </a:lnSpc>
              <a:spcBef>
                <a:spcPts val="0"/>
              </a:spcBef>
              <a:spcAft>
                <a:spcPts val="400"/>
              </a:spcAft>
              <a:defRPr sz="2000" b="0">
                <a:solidFill>
                  <a:srgbClr val="F7F1FF"/>
                </a:solidFill>
                <a:latin typeface="Segoe UI"/>
              </a:defRPr>
            </a:pPr>
            <a:r>
              <a:t>No language-server platform.</a:t>
            </a:r>
          </a:p>
          <a:p>
            <a:pPr>
              <a:lnSpc>
                <a:spcPct val="110000"/>
              </a:lnSpc>
              <a:spcBef>
                <a:spcPts val="0"/>
              </a:spcBef>
              <a:spcAft>
                <a:spcPts val="0"/>
              </a:spcAft>
              <a:defRPr sz="2000" b="0">
                <a:solidFill>
                  <a:srgbClr val="F7F1FF"/>
                </a:solidFill>
                <a:latin typeface="Segoe UI"/>
              </a:defRPr>
            </a:pPr>
            <a:r>
              <a:t>No generated evidence cards.</a:t>
            </a:r>
          </a:p>
        </p:txBody>
      </p:sp>
      <p:sp>
        <p:nvSpPr>
          <p:cNvPr id="16" name="TextBox 15"/>
          <p:cNvSpPr txBox="1"/>
          <p:nvPr/>
        </p:nvSpPr>
        <p:spPr>
          <a:xfrm>
            <a:off x="594360" y="5715000"/>
            <a:ext cx="10972800"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C4B7D7"/>
                </a:solidFill>
                <a:latin typeface="Segoe UI"/>
              </a:defRPr>
            </a:pPr>
            <a:r>
              <a:t>Pilot: git grep at a verified commit. Text matches, not semantic references.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THE ARCHITECTURE</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One shared endpoint. Two useful paths.</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04</a:t>
            </a:r>
          </a:p>
        </p:txBody>
      </p:sp>
      <p:sp>
        <p:nvSpPr>
          <p:cNvPr id="7" name="Rounded Rectangle 6"/>
          <p:cNvSpPr/>
          <p:nvPr/>
        </p:nvSpPr>
        <p:spPr>
          <a:xfrm>
            <a:off x="594360" y="2011680"/>
            <a:ext cx="2496312" cy="10515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C486FF"/>
                </a:solidFill>
                <a:latin typeface="Segoe UI"/>
              </a:defRPr>
            </a:pPr>
            <a:r>
              <a:t>Developers A + B</a:t>
            </a:r>
          </a:p>
        </p:txBody>
      </p:sp>
      <p:sp>
        <p:nvSpPr>
          <p:cNvPr id="9" name="TextBox 8"/>
          <p:cNvSpPr txBox="1"/>
          <p:nvPr/>
        </p:nvSpPr>
        <p:spPr>
          <a:xfrm>
            <a:off x="74066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F7F1FF"/>
                </a:solidFill>
                <a:latin typeface="Segoe UI"/>
              </a:defRPr>
            </a:pPr>
            <a:r>
              <a:t>Separate agent sessions</a:t>
            </a:r>
          </a:p>
        </p:txBody>
      </p:sp>
      <p:sp>
        <p:nvSpPr>
          <p:cNvPr id="10" name="Rounded Rectangle 9"/>
          <p:cNvSpPr/>
          <p:nvPr/>
        </p:nvSpPr>
        <p:spPr>
          <a:xfrm>
            <a:off x="3429000" y="2011680"/>
            <a:ext cx="2496312" cy="10515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530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C486FF"/>
                </a:solidFill>
                <a:latin typeface="Segoe UI"/>
              </a:defRPr>
            </a:pPr>
            <a:r>
              <a:t>Shared MCP</a:t>
            </a:r>
          </a:p>
        </p:txBody>
      </p:sp>
      <p:sp>
        <p:nvSpPr>
          <p:cNvPr id="12" name="TextBox 11"/>
          <p:cNvSpPr txBox="1"/>
          <p:nvPr/>
        </p:nvSpPr>
        <p:spPr>
          <a:xfrm>
            <a:off x="357530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F7F1FF"/>
                </a:solidFill>
                <a:latin typeface="Segoe UI"/>
              </a:defRPr>
            </a:pPr>
            <a:r>
              <a:t>search_compact / details</a:t>
            </a:r>
          </a:p>
        </p:txBody>
      </p:sp>
      <p:sp>
        <p:nvSpPr>
          <p:cNvPr id="13" name="Rounded Rectangle 12"/>
          <p:cNvSpPr/>
          <p:nvPr/>
        </p:nvSpPr>
        <p:spPr>
          <a:xfrm>
            <a:off x="6263640" y="2011680"/>
            <a:ext cx="2496312" cy="10515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C486FF"/>
                </a:solidFill>
                <a:latin typeface="Segoe UI"/>
              </a:defRPr>
            </a:pPr>
            <a:r>
              <a:t>Access + snapshot</a:t>
            </a:r>
          </a:p>
        </p:txBody>
      </p:sp>
      <p:sp>
        <p:nvSpPr>
          <p:cNvPr id="15" name="TextBox 14"/>
          <p:cNvSpPr txBox="1"/>
          <p:nvPr/>
        </p:nvSpPr>
        <p:spPr>
          <a:xfrm>
            <a:off x="640994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F7F1FF"/>
                </a:solidFill>
                <a:latin typeface="Segoe UI"/>
              </a:defRPr>
            </a:pPr>
            <a:r>
              <a:t>Verify actual source</a:t>
            </a:r>
          </a:p>
        </p:txBody>
      </p:sp>
      <p:sp>
        <p:nvSpPr>
          <p:cNvPr id="16" name="Rounded Rectangle 15"/>
          <p:cNvSpPr/>
          <p:nvPr/>
        </p:nvSpPr>
        <p:spPr>
          <a:xfrm>
            <a:off x="9098280" y="2011680"/>
            <a:ext cx="2496312" cy="10515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4458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C486FF"/>
                </a:solidFill>
                <a:latin typeface="Segoe UI"/>
              </a:defRPr>
            </a:pPr>
            <a:r>
              <a:t>Exact lookup</a:t>
            </a:r>
          </a:p>
        </p:txBody>
      </p:sp>
      <p:sp>
        <p:nvSpPr>
          <p:cNvPr id="18" name="TextBox 17"/>
          <p:cNvSpPr txBox="1"/>
          <p:nvPr/>
        </p:nvSpPr>
        <p:spPr>
          <a:xfrm>
            <a:off x="924458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F7F1FF"/>
                </a:solidFill>
                <a:latin typeface="Segoe UI"/>
              </a:defRPr>
            </a:pPr>
            <a:r>
              <a:t>Versioned result key</a:t>
            </a:r>
          </a:p>
        </p:txBody>
      </p:sp>
      <p:cxnSp>
        <p:nvCxnSpPr>
          <p:cNvPr id="19" name="Connector 18"/>
          <p:cNvCxnSpPr/>
          <p:nvPr/>
        </p:nvCxnSpPr>
        <p:spPr>
          <a:xfrm>
            <a:off x="3136392" y="2542032"/>
            <a:ext cx="237744" cy="0"/>
          </a:xfrm>
          <a:prstGeom prst="line">
            <a:avLst/>
          </a:prstGeom>
          <a:ln w="25400">
            <a:solidFill>
              <a:srgbClr val="C486FF"/>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71032" y="2542032"/>
            <a:ext cx="237744" cy="0"/>
          </a:xfrm>
          <a:prstGeom prst="line">
            <a:avLst/>
          </a:prstGeom>
          <a:ln w="25400">
            <a:solidFill>
              <a:srgbClr val="C486FF"/>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05672" y="2542032"/>
            <a:ext cx="237744" cy="0"/>
          </a:xfrm>
          <a:prstGeom prst="line">
            <a:avLst/>
          </a:prstGeom>
          <a:ln w="25400">
            <a:solidFill>
              <a:srgbClr val="C486FF"/>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94360" y="4251960"/>
            <a:ext cx="2971800" cy="10515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 y="4379976"/>
            <a:ext cx="2679192"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C486FF"/>
                </a:solidFill>
                <a:latin typeface="Segoe UI"/>
              </a:defRPr>
            </a:pPr>
            <a:r>
              <a:t>Token optimizer</a:t>
            </a:r>
          </a:p>
        </p:txBody>
      </p:sp>
      <p:sp>
        <p:nvSpPr>
          <p:cNvPr id="24" name="TextBox 23"/>
          <p:cNvSpPr txBox="1"/>
          <p:nvPr/>
        </p:nvSpPr>
        <p:spPr>
          <a:xfrm>
            <a:off x="740664" y="4809744"/>
            <a:ext cx="2679192"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F7F1FF"/>
                </a:solidFill>
                <a:latin typeface="Segoe UI"/>
              </a:defRPr>
            </a:pPr>
            <a:r>
              <a:t>Exact details to agents</a:t>
            </a:r>
          </a:p>
        </p:txBody>
      </p:sp>
      <p:sp>
        <p:nvSpPr>
          <p:cNvPr id="25" name="Rounded Rectangle 24"/>
          <p:cNvSpPr/>
          <p:nvPr/>
        </p:nvSpPr>
        <p:spPr>
          <a:xfrm>
            <a:off x="4608576" y="4251960"/>
            <a:ext cx="2971800" cy="10515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4379976"/>
            <a:ext cx="2679192"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C486FF"/>
                </a:solidFill>
                <a:latin typeface="Segoe UI"/>
              </a:defRPr>
            </a:pPr>
            <a:r>
              <a:t>Shared Redis</a:t>
            </a:r>
          </a:p>
        </p:txBody>
      </p:sp>
      <p:sp>
        <p:nvSpPr>
          <p:cNvPr id="27" name="TextBox 26"/>
          <p:cNvSpPr txBox="1"/>
          <p:nvPr/>
        </p:nvSpPr>
        <p:spPr>
          <a:xfrm>
            <a:off x="4754880" y="4809744"/>
            <a:ext cx="2679192"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F7F1FF"/>
                </a:solidFill>
                <a:latin typeface="Segoe UI"/>
              </a:defRPr>
            </a:pPr>
            <a:r>
              <a:t>Full results off-context</a:t>
            </a:r>
          </a:p>
        </p:txBody>
      </p:sp>
      <p:sp>
        <p:nvSpPr>
          <p:cNvPr id="28" name="Rounded Rectangle 27"/>
          <p:cNvSpPr/>
          <p:nvPr/>
        </p:nvSpPr>
        <p:spPr>
          <a:xfrm>
            <a:off x="8622792" y="4251960"/>
            <a:ext cx="2971800" cy="10515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9096" y="4379976"/>
            <a:ext cx="2679192"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C486FF"/>
                </a:solidFill>
                <a:latin typeface="Segoe UI"/>
              </a:defRPr>
            </a:pPr>
            <a:r>
              <a:t>Existing provider</a:t>
            </a:r>
          </a:p>
        </p:txBody>
      </p:sp>
      <p:sp>
        <p:nvSpPr>
          <p:cNvPr id="30" name="TextBox 29"/>
          <p:cNvSpPr txBox="1"/>
          <p:nvPr/>
        </p:nvSpPr>
        <p:spPr>
          <a:xfrm>
            <a:off x="8769096" y="4809744"/>
            <a:ext cx="2679192"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F7F1FF"/>
                </a:solidFill>
                <a:latin typeface="Segoe UI"/>
              </a:defRPr>
            </a:pPr>
            <a:r>
              <a:t>Pinned-commit search / read</a:t>
            </a:r>
          </a:p>
        </p:txBody>
      </p:sp>
      <p:cxnSp>
        <p:nvCxnSpPr>
          <p:cNvPr id="31" name="Connector 30"/>
          <p:cNvCxnSpPr/>
          <p:nvPr/>
        </p:nvCxnSpPr>
        <p:spPr>
          <a:xfrm flipH="1">
            <a:off x="6099048" y="3063240"/>
            <a:ext cx="3410712" cy="1143000"/>
          </a:xfrm>
          <a:prstGeom prst="line">
            <a:avLst/>
          </a:prstGeom>
          <a:ln w="25400">
            <a:solidFill>
              <a:srgbClr val="C486FF"/>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37960" y="3502152"/>
            <a:ext cx="2103120" cy="365760"/>
          </a:xfrm>
          <a:prstGeom prst="rect">
            <a:avLst/>
          </a:prstGeom>
          <a:noFill/>
        </p:spPr>
        <p:txBody>
          <a:bodyPr wrap="square" lIns="0" rIns="0" tIns="0" bIns="0">
            <a:noAutofit/>
          </a:bodyPr>
          <a:lstStyle/>
          <a:p>
            <a:pPr>
              <a:lnSpc>
                <a:spcPct val="110000"/>
              </a:lnSpc>
              <a:spcBef>
                <a:spcPts val="0"/>
              </a:spcBef>
              <a:spcAft>
                <a:spcPts val="0"/>
              </a:spcAft>
              <a:defRPr sz="1500" b="0">
                <a:solidFill>
                  <a:srgbClr val="C4B7D7"/>
                </a:solidFill>
                <a:latin typeface="Segoe UI"/>
              </a:defRPr>
            </a:pPr>
            <a:r>
              <a:t>retained cache result</a:t>
            </a:r>
          </a:p>
        </p:txBody>
      </p:sp>
      <p:cxnSp>
        <p:nvCxnSpPr>
          <p:cNvPr id="33" name="Connector 32"/>
          <p:cNvCxnSpPr/>
          <p:nvPr/>
        </p:nvCxnSpPr>
        <p:spPr>
          <a:xfrm>
            <a:off x="10149840" y="3063240"/>
            <a:ext cx="0" cy="1143000"/>
          </a:xfrm>
          <a:prstGeom prst="line">
            <a:avLst/>
          </a:prstGeom>
          <a:ln w="25400">
            <a:solidFill>
              <a:srgbClr val="45E7CD"/>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287000" y="3538728"/>
            <a:ext cx="1188720" cy="365760"/>
          </a:xfrm>
          <a:prstGeom prst="rect">
            <a:avLst/>
          </a:prstGeom>
          <a:noFill/>
        </p:spPr>
        <p:txBody>
          <a:bodyPr wrap="square" lIns="0" rIns="0" tIns="0" bIns="0">
            <a:noAutofit/>
          </a:bodyPr>
          <a:lstStyle/>
          <a:p>
            <a:pPr>
              <a:lnSpc>
                <a:spcPct val="110000"/>
              </a:lnSpc>
              <a:spcBef>
                <a:spcPts val="0"/>
              </a:spcBef>
              <a:spcAft>
                <a:spcPts val="0"/>
              </a:spcAft>
              <a:defRPr sz="1600" b="0">
                <a:solidFill>
                  <a:srgbClr val="45E7CD"/>
                </a:solidFill>
                <a:latin typeface="Segoe UI"/>
              </a:defRPr>
            </a:pPr>
            <a:r>
              <a:t>miss</a:t>
            </a:r>
          </a:p>
        </p:txBody>
      </p:sp>
      <p:cxnSp>
        <p:nvCxnSpPr>
          <p:cNvPr id="35" name="Connector 34"/>
          <p:cNvCxnSpPr/>
          <p:nvPr/>
        </p:nvCxnSpPr>
        <p:spPr>
          <a:xfrm flipH="1">
            <a:off x="7644383" y="4782312"/>
            <a:ext cx="923545" cy="0"/>
          </a:xfrm>
          <a:prstGeom prst="line">
            <a:avLst/>
          </a:prstGeom>
          <a:ln w="25400">
            <a:solidFill>
              <a:srgbClr val="45E7CD"/>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44968" y="4443984"/>
            <a:ext cx="77724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store</a:t>
            </a:r>
          </a:p>
        </p:txBody>
      </p:sp>
      <p:cxnSp>
        <p:nvCxnSpPr>
          <p:cNvPr id="37" name="Connector 36"/>
          <p:cNvCxnSpPr/>
          <p:nvPr/>
        </p:nvCxnSpPr>
        <p:spPr>
          <a:xfrm flipH="1">
            <a:off x="3630168" y="4782312"/>
            <a:ext cx="923544" cy="0"/>
          </a:xfrm>
          <a:prstGeom prst="line">
            <a:avLst/>
          </a:prstGeom>
          <a:ln w="25400">
            <a:solidFill>
              <a:srgbClr val="C486FF"/>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5715000"/>
            <a:ext cx="10972800" cy="502920"/>
          </a:xfrm>
          <a:prstGeom prst="rect">
            <a:avLst/>
          </a:prstGeom>
          <a:noFill/>
        </p:spPr>
        <p:txBody>
          <a:bodyPr wrap="square" lIns="0" rIns="0" tIns="0" bIns="0">
            <a:noAutofit/>
          </a:bodyPr>
          <a:lstStyle/>
          <a:p>
            <a:pPr>
              <a:lnSpc>
                <a:spcPct val="110000"/>
              </a:lnSpc>
              <a:spcBef>
                <a:spcPts val="0"/>
              </a:spcBef>
              <a:spcAft>
                <a:spcPts val="0"/>
              </a:spcAft>
              <a:defRPr sz="2200" b="1">
                <a:solidFill>
                  <a:srgbClr val="45E7CD"/>
                </a:solidFill>
                <a:latin typeface="Segoe UI"/>
              </a:defRPr>
            </a:pPr>
            <a:r>
              <a:t>Cache hits and misses both receive token-efficient output.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TEAM REUSE</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Developer B benefits from Developer A.</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05</a:t>
            </a:r>
          </a:p>
        </p:txBody>
      </p:sp>
      <p:sp>
        <p:nvSpPr>
          <p:cNvPr id="7" name="Rounded Rectangle 6"/>
          <p:cNvSpPr/>
          <p:nvPr/>
        </p:nvSpPr>
        <p:spPr>
          <a:xfrm>
            <a:off x="594360" y="2011680"/>
            <a:ext cx="11000232" cy="86868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24688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F7F1FF"/>
                </a:solidFill>
                <a:latin typeface="Segoe UI"/>
              </a:defRPr>
            </a:pPr>
            <a:r>
              <a:t>A: first lookup</a:t>
            </a:r>
          </a:p>
        </p:txBody>
      </p:sp>
      <p:sp>
        <p:nvSpPr>
          <p:cNvPr id="9" name="TextBox 8"/>
          <p:cNvSpPr txBox="1"/>
          <p:nvPr/>
        </p:nvSpPr>
        <p:spPr>
          <a:xfrm>
            <a:off x="3474720" y="2240280"/>
            <a:ext cx="4983480" cy="502920"/>
          </a:xfrm>
          <a:prstGeom prst="rect">
            <a:avLst/>
          </a:prstGeom>
          <a:noFill/>
        </p:spPr>
        <p:txBody>
          <a:bodyPr wrap="square" lIns="0" rIns="0" tIns="0" bIns="0">
            <a:noAutofit/>
          </a:bodyPr>
          <a:lstStyle/>
          <a:p>
            <a:pPr>
              <a:lnSpc>
                <a:spcPct val="110000"/>
              </a:lnSpc>
              <a:spcBef>
                <a:spcPts val="0"/>
              </a:spcBef>
              <a:spcAft>
                <a:spcPts val="0"/>
              </a:spcAft>
              <a:defRPr sz="2000" b="0">
                <a:solidFill>
                  <a:srgbClr val="F7F1FF"/>
                </a:solidFill>
                <a:latin typeface="Segoe UI"/>
              </a:defRPr>
            </a:pPr>
            <a:r>
              <a:t>S1 + query Q + access scope P</a:t>
            </a:r>
          </a:p>
        </p:txBody>
      </p:sp>
      <p:sp>
        <p:nvSpPr>
          <p:cNvPr id="10" name="TextBox 9"/>
          <p:cNvSpPr txBox="1"/>
          <p:nvPr/>
        </p:nvSpPr>
        <p:spPr>
          <a:xfrm>
            <a:off x="8686800" y="2240280"/>
            <a:ext cx="26974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45E7CD"/>
                </a:solidFill>
                <a:latin typeface="Segoe UI"/>
              </a:defRPr>
            </a:pPr>
            <a:r>
              <a:t>Run provider</a:t>
            </a:r>
          </a:p>
        </p:txBody>
      </p:sp>
      <p:sp>
        <p:nvSpPr>
          <p:cNvPr id="11" name="Rounded Rectangle 10"/>
          <p:cNvSpPr/>
          <p:nvPr/>
        </p:nvSpPr>
        <p:spPr>
          <a:xfrm>
            <a:off x="594360" y="3090672"/>
            <a:ext cx="11000232" cy="86868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319272"/>
            <a:ext cx="24688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F7F1FF"/>
                </a:solidFill>
                <a:latin typeface="Segoe UI"/>
              </a:defRPr>
            </a:pPr>
            <a:r>
              <a:t>B: same lookup</a:t>
            </a:r>
          </a:p>
        </p:txBody>
      </p:sp>
      <p:sp>
        <p:nvSpPr>
          <p:cNvPr id="13" name="TextBox 12"/>
          <p:cNvSpPr txBox="1"/>
          <p:nvPr/>
        </p:nvSpPr>
        <p:spPr>
          <a:xfrm>
            <a:off x="3474720" y="3319272"/>
            <a:ext cx="4983480" cy="502920"/>
          </a:xfrm>
          <a:prstGeom prst="rect">
            <a:avLst/>
          </a:prstGeom>
          <a:noFill/>
        </p:spPr>
        <p:txBody>
          <a:bodyPr wrap="square" lIns="0" rIns="0" tIns="0" bIns="0">
            <a:noAutofit/>
          </a:bodyPr>
          <a:lstStyle/>
          <a:p>
            <a:pPr>
              <a:lnSpc>
                <a:spcPct val="110000"/>
              </a:lnSpc>
              <a:spcBef>
                <a:spcPts val="0"/>
              </a:spcBef>
              <a:spcAft>
                <a:spcPts val="0"/>
              </a:spcAft>
              <a:defRPr sz="2000" b="0">
                <a:solidFill>
                  <a:srgbClr val="F7F1FF"/>
                </a:solidFill>
                <a:latin typeface="Segoe UI"/>
              </a:defRPr>
            </a:pPr>
            <a:r>
              <a:t>S1 + query Q + access scope P</a:t>
            </a:r>
          </a:p>
        </p:txBody>
      </p:sp>
      <p:sp>
        <p:nvSpPr>
          <p:cNvPr id="14" name="TextBox 13"/>
          <p:cNvSpPr txBox="1"/>
          <p:nvPr/>
        </p:nvSpPr>
        <p:spPr>
          <a:xfrm>
            <a:off x="8686800" y="3319272"/>
            <a:ext cx="26974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45E7CD"/>
                </a:solidFill>
                <a:latin typeface="Segoe UI"/>
              </a:defRPr>
            </a:pPr>
            <a:r>
              <a:t>Shared hit</a:t>
            </a:r>
          </a:p>
        </p:txBody>
      </p:sp>
      <p:sp>
        <p:nvSpPr>
          <p:cNvPr id="15" name="Rounded Rectangle 14"/>
          <p:cNvSpPr/>
          <p:nvPr/>
        </p:nvSpPr>
        <p:spPr>
          <a:xfrm>
            <a:off x="594360" y="4169664"/>
            <a:ext cx="11000232" cy="86868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98264"/>
            <a:ext cx="24688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F7F1FF"/>
                </a:solidFill>
                <a:latin typeface="Segoe UI"/>
              </a:defRPr>
            </a:pPr>
            <a:r>
              <a:t>A: code changed</a:t>
            </a:r>
          </a:p>
        </p:txBody>
      </p:sp>
      <p:sp>
        <p:nvSpPr>
          <p:cNvPr id="17" name="TextBox 16"/>
          <p:cNvSpPr txBox="1"/>
          <p:nvPr/>
        </p:nvSpPr>
        <p:spPr>
          <a:xfrm>
            <a:off x="3474720" y="4398264"/>
            <a:ext cx="4983480" cy="502920"/>
          </a:xfrm>
          <a:prstGeom prst="rect">
            <a:avLst/>
          </a:prstGeom>
          <a:noFill/>
        </p:spPr>
        <p:txBody>
          <a:bodyPr wrap="square" lIns="0" rIns="0" tIns="0" bIns="0">
            <a:noAutofit/>
          </a:bodyPr>
          <a:lstStyle/>
          <a:p>
            <a:pPr>
              <a:lnSpc>
                <a:spcPct val="110000"/>
              </a:lnSpc>
              <a:spcBef>
                <a:spcPts val="0"/>
              </a:spcBef>
              <a:spcAft>
                <a:spcPts val="0"/>
              </a:spcAft>
              <a:defRPr sz="2000" b="0">
                <a:solidFill>
                  <a:srgbClr val="F7F1FF"/>
                </a:solidFill>
                <a:latin typeface="Segoe UI"/>
              </a:defRPr>
            </a:pPr>
            <a:r>
              <a:t>S2 + query Q + access scope P</a:t>
            </a:r>
          </a:p>
        </p:txBody>
      </p:sp>
      <p:sp>
        <p:nvSpPr>
          <p:cNvPr id="18" name="TextBox 17"/>
          <p:cNvSpPr txBox="1"/>
          <p:nvPr/>
        </p:nvSpPr>
        <p:spPr>
          <a:xfrm>
            <a:off x="8686800" y="4398264"/>
            <a:ext cx="26974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45E7CD"/>
                </a:solidFill>
                <a:latin typeface="Segoe UI"/>
              </a:defRPr>
            </a:pPr>
            <a:r>
              <a:t>New key / miss</a:t>
            </a:r>
          </a:p>
        </p:txBody>
      </p:sp>
      <p:sp>
        <p:nvSpPr>
          <p:cNvPr id="19" name="TextBox 18"/>
          <p:cNvSpPr txBox="1"/>
          <p:nvPr/>
        </p:nvSpPr>
        <p:spPr>
          <a:xfrm>
            <a:off x="594360" y="5513832"/>
            <a:ext cx="10972800" cy="822960"/>
          </a:xfrm>
          <a:prstGeom prst="rect">
            <a:avLst/>
          </a:prstGeom>
          <a:noFill/>
        </p:spPr>
        <p:txBody>
          <a:bodyPr wrap="square" lIns="0" rIns="0" tIns="0" bIns="0">
            <a:noAutofit/>
          </a:bodyPr>
          <a:lstStyle/>
          <a:p>
            <a:pPr>
              <a:lnSpc>
                <a:spcPct val="110000"/>
              </a:lnSpc>
              <a:spcBef>
                <a:spcPts val="0"/>
              </a:spcBef>
              <a:spcAft>
                <a:spcPts val="400"/>
              </a:spcAft>
              <a:defRPr sz="2100" b="0">
                <a:solidFill>
                  <a:srgbClr val="C4B7D7"/>
                </a:solidFill>
                <a:latin typeface="Segoe UI"/>
              </a:defRPr>
            </a:pPr>
            <a:r>
              <a:t>Different preview budgets can share a raw result.</a:t>
            </a:r>
          </a:p>
          <a:p>
            <a:pPr>
              <a:lnSpc>
                <a:spcPct val="110000"/>
              </a:lnSpc>
              <a:spcBef>
                <a:spcPts val="0"/>
              </a:spcBef>
              <a:spcAft>
                <a:spcPts val="0"/>
              </a:spcAft>
              <a:defRPr sz="2100" b="0">
                <a:solidFill>
                  <a:srgbClr val="C4B7D7"/>
                </a:solidFill>
                <a:latin typeface="Segoe UI"/>
              </a:defRPr>
            </a:pPr>
            <a:r>
              <a:t>Different permissions may require isolation.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TOKEN OPTIMIZATION</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Store everything captured. Send what is needed.</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06</a:t>
            </a:r>
          </a:p>
        </p:txBody>
      </p:sp>
      <p:sp>
        <p:nvSpPr>
          <p:cNvPr id="7" name="Rounded Rectangle 6"/>
          <p:cNvSpPr/>
          <p:nvPr/>
        </p:nvSpPr>
        <p:spPr>
          <a:xfrm>
            <a:off x="594360" y="2011680"/>
            <a:ext cx="3474720" cy="22860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221992"/>
            <a:ext cx="3054096" cy="320040"/>
          </a:xfrm>
          <a:prstGeom prst="rect">
            <a:avLst/>
          </a:prstGeom>
          <a:noFill/>
        </p:spPr>
        <p:txBody>
          <a:bodyPr wrap="square" lIns="0" rIns="0" tIns="0" bIns="0">
            <a:noAutofit/>
          </a:bodyPr>
          <a:lstStyle/>
          <a:p>
            <a:pPr>
              <a:lnSpc>
                <a:spcPct val="110000"/>
              </a:lnSpc>
              <a:spcBef>
                <a:spcPts val="0"/>
              </a:spcBef>
              <a:spcAft>
                <a:spcPts val="0"/>
              </a:spcAft>
              <a:defRPr sz="1500" b="1">
                <a:solidFill>
                  <a:srgbClr val="C4B7D7"/>
                </a:solidFill>
                <a:latin typeface="Segoe UI"/>
              </a:defRPr>
            </a:pPr>
            <a:r>
              <a:t>STORED RAW</a:t>
            </a:r>
          </a:p>
        </p:txBody>
      </p:sp>
      <p:sp>
        <p:nvSpPr>
          <p:cNvPr id="9" name="TextBox 8"/>
          <p:cNvSpPr txBox="1"/>
          <p:nvPr/>
        </p:nvSpPr>
        <p:spPr>
          <a:xfrm>
            <a:off x="804672" y="2706624"/>
            <a:ext cx="3054096" cy="822960"/>
          </a:xfrm>
          <a:prstGeom prst="rect">
            <a:avLst/>
          </a:prstGeom>
          <a:noFill/>
        </p:spPr>
        <p:txBody>
          <a:bodyPr wrap="square" lIns="0" rIns="0" tIns="0" bIns="0">
            <a:noAutofit/>
          </a:bodyPr>
          <a:lstStyle/>
          <a:p>
            <a:pPr>
              <a:lnSpc>
                <a:spcPct val="110000"/>
              </a:lnSpc>
              <a:spcBef>
                <a:spcPts val="0"/>
              </a:spcBef>
              <a:spcAft>
                <a:spcPts val="0"/>
              </a:spcAft>
              <a:defRPr sz="4800" b="1">
                <a:solidFill>
                  <a:srgbClr val="C486FF"/>
                </a:solidFill>
                <a:latin typeface="Segoe UI"/>
              </a:defRPr>
            </a:pPr>
            <a:r>
              <a:t>10,000</a:t>
            </a:r>
          </a:p>
        </p:txBody>
      </p:sp>
      <p:sp>
        <p:nvSpPr>
          <p:cNvPr id="10" name="TextBox 9"/>
          <p:cNvSpPr txBox="1"/>
          <p:nvPr/>
        </p:nvSpPr>
        <p:spPr>
          <a:xfrm>
            <a:off x="804672" y="3666744"/>
            <a:ext cx="3054096"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F7F1FF"/>
                </a:solidFill>
                <a:latin typeface="Segoe UI"/>
              </a:defRPr>
            </a:pPr>
            <a:r>
              <a:t>Outside model context</a:t>
            </a:r>
          </a:p>
        </p:txBody>
      </p:sp>
      <p:sp>
        <p:nvSpPr>
          <p:cNvPr id="11" name="Rounded Rectangle 10"/>
          <p:cNvSpPr/>
          <p:nvPr/>
        </p:nvSpPr>
        <p:spPr>
          <a:xfrm>
            <a:off x="4361688" y="2011680"/>
            <a:ext cx="3474720" cy="22860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221992"/>
            <a:ext cx="3054096" cy="320040"/>
          </a:xfrm>
          <a:prstGeom prst="rect">
            <a:avLst/>
          </a:prstGeom>
          <a:noFill/>
        </p:spPr>
        <p:txBody>
          <a:bodyPr wrap="square" lIns="0" rIns="0" tIns="0" bIns="0">
            <a:noAutofit/>
          </a:bodyPr>
          <a:lstStyle/>
          <a:p>
            <a:pPr>
              <a:lnSpc>
                <a:spcPct val="110000"/>
              </a:lnSpc>
              <a:spcBef>
                <a:spcPts val="0"/>
              </a:spcBef>
              <a:spcAft>
                <a:spcPts val="0"/>
              </a:spcAft>
              <a:defRPr sz="1500" b="1">
                <a:solidFill>
                  <a:srgbClr val="C4B7D7"/>
                </a:solidFill>
                <a:latin typeface="Segoe UI"/>
              </a:defRPr>
            </a:pPr>
            <a:r>
              <a:t>PREVIEW</a:t>
            </a:r>
          </a:p>
        </p:txBody>
      </p:sp>
      <p:sp>
        <p:nvSpPr>
          <p:cNvPr id="13" name="TextBox 12"/>
          <p:cNvSpPr txBox="1"/>
          <p:nvPr/>
        </p:nvSpPr>
        <p:spPr>
          <a:xfrm>
            <a:off x="4572000" y="2706624"/>
            <a:ext cx="3054096" cy="822960"/>
          </a:xfrm>
          <a:prstGeom prst="rect">
            <a:avLst/>
          </a:prstGeom>
          <a:noFill/>
        </p:spPr>
        <p:txBody>
          <a:bodyPr wrap="square" lIns="0" rIns="0" tIns="0" bIns="0">
            <a:noAutofit/>
          </a:bodyPr>
          <a:lstStyle/>
          <a:p>
            <a:pPr>
              <a:lnSpc>
                <a:spcPct val="110000"/>
              </a:lnSpc>
              <a:spcBef>
                <a:spcPts val="0"/>
              </a:spcBef>
              <a:spcAft>
                <a:spcPts val="0"/>
              </a:spcAft>
              <a:defRPr sz="4800" b="1">
                <a:solidFill>
                  <a:srgbClr val="C486FF"/>
                </a:solidFill>
                <a:latin typeface="Segoe UI"/>
              </a:defRPr>
            </a:pPr>
            <a:r>
              <a:t>300</a:t>
            </a:r>
          </a:p>
        </p:txBody>
      </p:sp>
      <p:sp>
        <p:nvSpPr>
          <p:cNvPr id="14" name="TextBox 13"/>
          <p:cNvSpPr txBox="1"/>
          <p:nvPr/>
        </p:nvSpPr>
        <p:spPr>
          <a:xfrm>
            <a:off x="4572000" y="3666744"/>
            <a:ext cx="3054096"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F7F1FF"/>
                </a:solidFill>
                <a:latin typeface="Segoe UI"/>
              </a:defRPr>
            </a:pPr>
            <a:r>
              <a:t>Paths, IDs, short excerpts</a:t>
            </a:r>
          </a:p>
        </p:txBody>
      </p:sp>
      <p:sp>
        <p:nvSpPr>
          <p:cNvPr id="15" name="Rounded Rectangle 14"/>
          <p:cNvSpPr/>
          <p:nvPr/>
        </p:nvSpPr>
        <p:spPr>
          <a:xfrm>
            <a:off x="8129016" y="2011680"/>
            <a:ext cx="3474720" cy="22860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2221992"/>
            <a:ext cx="3054096" cy="320040"/>
          </a:xfrm>
          <a:prstGeom prst="rect">
            <a:avLst/>
          </a:prstGeom>
          <a:noFill/>
        </p:spPr>
        <p:txBody>
          <a:bodyPr wrap="square" lIns="0" rIns="0" tIns="0" bIns="0">
            <a:noAutofit/>
          </a:bodyPr>
          <a:lstStyle/>
          <a:p>
            <a:pPr>
              <a:lnSpc>
                <a:spcPct val="110000"/>
              </a:lnSpc>
              <a:spcBef>
                <a:spcPts val="0"/>
              </a:spcBef>
              <a:spcAft>
                <a:spcPts val="0"/>
              </a:spcAft>
              <a:defRPr sz="1500" b="1">
                <a:solidFill>
                  <a:srgbClr val="C4B7D7"/>
                </a:solidFill>
                <a:latin typeface="Segoe UI"/>
              </a:defRPr>
            </a:pPr>
            <a:r>
              <a:t>DETAILS</a:t>
            </a:r>
          </a:p>
        </p:txBody>
      </p:sp>
      <p:sp>
        <p:nvSpPr>
          <p:cNvPr id="17" name="TextBox 16"/>
          <p:cNvSpPr txBox="1"/>
          <p:nvPr/>
        </p:nvSpPr>
        <p:spPr>
          <a:xfrm>
            <a:off x="8339328" y="2706624"/>
            <a:ext cx="3054096" cy="822960"/>
          </a:xfrm>
          <a:prstGeom prst="rect">
            <a:avLst/>
          </a:prstGeom>
          <a:noFill/>
        </p:spPr>
        <p:txBody>
          <a:bodyPr wrap="square" lIns="0" rIns="0" tIns="0" bIns="0">
            <a:noAutofit/>
          </a:bodyPr>
          <a:lstStyle/>
          <a:p>
            <a:pPr>
              <a:lnSpc>
                <a:spcPct val="110000"/>
              </a:lnSpc>
              <a:spcBef>
                <a:spcPts val="0"/>
              </a:spcBef>
              <a:spcAft>
                <a:spcPts val="0"/>
              </a:spcAft>
              <a:defRPr sz="4800" b="1">
                <a:solidFill>
                  <a:srgbClr val="C486FF"/>
                </a:solidFill>
                <a:latin typeface="Segoe UI"/>
              </a:defRPr>
            </a:pPr>
            <a:r>
              <a:t>1,200</a:t>
            </a:r>
          </a:p>
        </p:txBody>
      </p:sp>
      <p:sp>
        <p:nvSpPr>
          <p:cNvPr id="18" name="TextBox 17"/>
          <p:cNvSpPr txBox="1"/>
          <p:nvPr/>
        </p:nvSpPr>
        <p:spPr>
          <a:xfrm>
            <a:off x="8339328" y="3666744"/>
            <a:ext cx="3054096"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F7F1FF"/>
                </a:solidFill>
                <a:latin typeface="Segoe UI"/>
              </a:defRPr>
            </a:pPr>
            <a:r>
              <a:t>Only selected exact source</a:t>
            </a:r>
          </a:p>
        </p:txBody>
      </p:sp>
      <p:sp>
        <p:nvSpPr>
          <p:cNvPr id="19" name="TextBox 18"/>
          <p:cNvSpPr txBox="1"/>
          <p:nvPr/>
        </p:nvSpPr>
        <p:spPr>
          <a:xfrm>
            <a:off x="594360" y="4617720"/>
            <a:ext cx="10972800" cy="594360"/>
          </a:xfrm>
          <a:prstGeom prst="rect">
            <a:avLst/>
          </a:prstGeom>
          <a:noFill/>
        </p:spPr>
        <p:txBody>
          <a:bodyPr wrap="square" lIns="0" rIns="0" tIns="0" bIns="0">
            <a:noAutofit/>
          </a:bodyPr>
          <a:lstStyle/>
          <a:p>
            <a:pPr>
              <a:lnSpc>
                <a:spcPct val="110000"/>
              </a:lnSpc>
              <a:spcBef>
                <a:spcPts val="0"/>
              </a:spcBef>
              <a:spcAft>
                <a:spcPts val="0"/>
              </a:spcAft>
              <a:defRPr sz="3000" b="1">
                <a:solidFill>
                  <a:srgbClr val="45E7CD"/>
                </a:solidFill>
                <a:latin typeface="Segoe UI"/>
              </a:defRPr>
            </a:pPr>
            <a:r>
              <a:t>300 + 1,200 = 1,500 emitted tool tokens</a:t>
            </a:r>
          </a:p>
        </p:txBody>
      </p:sp>
      <p:sp>
        <p:nvSpPr>
          <p:cNvPr id="20" name="TextBox 19"/>
          <p:cNvSpPr txBox="1"/>
          <p:nvPr/>
        </p:nvSpPr>
        <p:spPr>
          <a:xfrm>
            <a:off x="594360" y="5486400"/>
            <a:ext cx="10972800" cy="685800"/>
          </a:xfrm>
          <a:prstGeom prst="rect">
            <a:avLst/>
          </a:prstGeom>
          <a:noFill/>
        </p:spPr>
        <p:txBody>
          <a:bodyPr wrap="square" lIns="0" rIns="0" tIns="0" bIns="0">
            <a:noAutofit/>
          </a:bodyPr>
          <a:lstStyle/>
          <a:p>
            <a:pPr>
              <a:lnSpc>
                <a:spcPct val="110000"/>
              </a:lnSpc>
              <a:spcBef>
                <a:spcPts val="0"/>
              </a:spcBef>
              <a:spcAft>
                <a:spcPts val="400"/>
              </a:spcAft>
              <a:defRPr sz="2000" b="0">
                <a:solidFill>
                  <a:srgbClr val="C4B7D7"/>
                </a:solidFill>
                <a:latin typeface="Segoe UI"/>
              </a:defRPr>
            </a:pPr>
            <a:r>
              <a:t>Illustrative 85% tool-payload reduction.</a:t>
            </a:r>
          </a:p>
          <a:p>
            <a:pPr>
              <a:lnSpc>
                <a:spcPct val="110000"/>
              </a:lnSpc>
              <a:spcBef>
                <a:spcPts val="0"/>
              </a:spcBef>
              <a:spcAft>
                <a:spcPts val="0"/>
              </a:spcAft>
              <a:defRPr sz="2000" b="0">
                <a:solidFill>
                  <a:srgbClr val="C4B7D7"/>
                </a:solidFill>
                <a:latin typeface="Segoe UI"/>
              </a:defRPr>
            </a:pPr>
            <a:r>
              <a:t>Not measured. Not a total-task or billing guarantee.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TWO PROPOSED TOOLS</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Preview first. Fetch selected details together.</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07</a:t>
            </a:r>
          </a:p>
        </p:txBody>
      </p:sp>
      <p:sp>
        <p:nvSpPr>
          <p:cNvPr id="7" name="Rounded Rectangle 6"/>
          <p:cNvSpPr/>
          <p:nvPr/>
        </p:nvSpPr>
        <p:spPr>
          <a:xfrm>
            <a:off x="594360" y="2011680"/>
            <a:ext cx="5340096" cy="329184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12848"/>
            <a:ext cx="4901183" cy="749808"/>
          </a:xfrm>
          <a:prstGeom prst="rect">
            <a:avLst/>
          </a:prstGeom>
          <a:noFill/>
        </p:spPr>
        <p:txBody>
          <a:bodyPr wrap="square" lIns="0" rIns="0" tIns="0" bIns="0">
            <a:noAutofit/>
          </a:bodyPr>
          <a:lstStyle/>
          <a:p>
            <a:pPr>
              <a:lnSpc>
                <a:spcPct val="110000"/>
              </a:lnSpc>
              <a:spcBef>
                <a:spcPts val="0"/>
              </a:spcBef>
              <a:spcAft>
                <a:spcPts val="0"/>
              </a:spcAft>
              <a:defRPr sz="2600" b="1">
                <a:solidFill>
                  <a:srgbClr val="C486FF"/>
                </a:solidFill>
                <a:latin typeface="Segoe UI"/>
              </a:defRPr>
            </a:pPr>
            <a:r>
              <a:t>search_compact</a:t>
            </a:r>
          </a:p>
        </p:txBody>
      </p:sp>
      <p:sp>
        <p:nvSpPr>
          <p:cNvPr id="9" name="TextBox 8"/>
          <p:cNvSpPr txBox="1"/>
          <p:nvPr/>
        </p:nvSpPr>
        <p:spPr>
          <a:xfrm>
            <a:off x="813816" y="3035808"/>
            <a:ext cx="4901183" cy="2066543"/>
          </a:xfrm>
          <a:prstGeom prst="rect">
            <a:avLst/>
          </a:prstGeom>
          <a:noFill/>
        </p:spPr>
        <p:txBody>
          <a:bodyPr wrap="square" lIns="0" rIns="0" tIns="0" bIns="0">
            <a:noAutofit/>
          </a:bodyPr>
          <a:lstStyle/>
          <a:p>
            <a:pPr>
              <a:lnSpc>
                <a:spcPct val="110000"/>
              </a:lnSpc>
              <a:spcBef>
                <a:spcPts val="0"/>
              </a:spcBef>
              <a:spcAft>
                <a:spcPts val="400"/>
              </a:spcAft>
              <a:defRPr sz="2000" b="0">
                <a:solidFill>
                  <a:srgbClr val="F7F1FF"/>
                </a:solidFill>
                <a:latin typeface="Segoe UI"/>
              </a:defRPr>
            </a:pPr>
            <a:r>
              <a:t>Query: VIP_DISCOUNT</a:t>
            </a:r>
          </a:p>
          <a:p>
            <a:pPr>
              <a:lnSpc>
                <a:spcPct val="110000"/>
              </a:lnSpc>
              <a:spcBef>
                <a:spcPts val="0"/>
              </a:spcBef>
              <a:spcAft>
                <a:spcPts val="400"/>
              </a:spcAft>
              <a:defRPr sz="2000" b="0">
                <a:solidFill>
                  <a:srgbClr val="F7F1FF"/>
                </a:solidFill>
                <a:latin typeface="Segoe UI"/>
              </a:defRPr>
            </a:pPr>
            <a:r>
              <a:t>Snapshot: S1</a:t>
            </a:r>
          </a:p>
          <a:p>
            <a:pPr>
              <a:lnSpc>
                <a:spcPct val="110000"/>
              </a:lnSpc>
              <a:spcBef>
                <a:spcPts val="0"/>
              </a:spcBef>
              <a:spcAft>
                <a:spcPts val="400"/>
              </a:spcAft>
              <a:defRPr sz="2000" b="0">
                <a:solidFill>
                  <a:srgbClr val="F7F1FF"/>
                </a:solidFill>
                <a:latin typeface="Segoe UI"/>
              </a:defRPr>
            </a:pPr>
            <a:r>
              <a:t>Return: R17, item IDs, source previews</a:t>
            </a:r>
          </a:p>
          <a:p>
            <a:pPr>
              <a:lnSpc>
                <a:spcPct val="110000"/>
              </a:lnSpc>
              <a:spcBef>
                <a:spcPts val="0"/>
              </a:spcBef>
              <a:spcAft>
                <a:spcPts val="0"/>
              </a:spcAft>
              <a:defRPr sz="2000" b="0">
                <a:solidFill>
                  <a:srgbClr val="F7F1FF"/>
                </a:solidFill>
                <a:latin typeface="Segoe UI"/>
              </a:defRPr>
            </a:pPr>
            <a:r>
              <a:t>Show counts and remaining pages.</a:t>
            </a:r>
          </a:p>
        </p:txBody>
      </p:sp>
      <p:sp>
        <p:nvSpPr>
          <p:cNvPr id="10" name="Rounded Rectangle 9"/>
          <p:cNvSpPr/>
          <p:nvPr/>
        </p:nvSpPr>
        <p:spPr>
          <a:xfrm>
            <a:off x="6254496" y="2011680"/>
            <a:ext cx="5340096" cy="329184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212848"/>
            <a:ext cx="4901183" cy="749808"/>
          </a:xfrm>
          <a:prstGeom prst="rect">
            <a:avLst/>
          </a:prstGeom>
          <a:noFill/>
        </p:spPr>
        <p:txBody>
          <a:bodyPr wrap="square" lIns="0" rIns="0" tIns="0" bIns="0">
            <a:noAutofit/>
          </a:bodyPr>
          <a:lstStyle/>
          <a:p>
            <a:pPr>
              <a:lnSpc>
                <a:spcPct val="110000"/>
              </a:lnSpc>
              <a:spcBef>
                <a:spcPts val="0"/>
              </a:spcBef>
              <a:spcAft>
                <a:spcPts val="0"/>
              </a:spcAft>
              <a:defRPr sz="2600" b="1">
                <a:solidFill>
                  <a:srgbClr val="C486FF"/>
                </a:solidFill>
                <a:latin typeface="Segoe UI"/>
              </a:defRPr>
            </a:pPr>
            <a:r>
              <a:t>fetch_details</a:t>
            </a:r>
          </a:p>
        </p:txBody>
      </p:sp>
      <p:sp>
        <p:nvSpPr>
          <p:cNvPr id="12" name="TextBox 11"/>
          <p:cNvSpPr txBox="1"/>
          <p:nvPr/>
        </p:nvSpPr>
        <p:spPr>
          <a:xfrm>
            <a:off x="6473952" y="3035808"/>
            <a:ext cx="4901183" cy="2066543"/>
          </a:xfrm>
          <a:prstGeom prst="rect">
            <a:avLst/>
          </a:prstGeom>
          <a:noFill/>
        </p:spPr>
        <p:txBody>
          <a:bodyPr wrap="square" lIns="0" rIns="0" tIns="0" bIns="0">
            <a:noAutofit/>
          </a:bodyPr>
          <a:lstStyle/>
          <a:p>
            <a:pPr>
              <a:lnSpc>
                <a:spcPct val="110000"/>
              </a:lnSpc>
              <a:spcBef>
                <a:spcPts val="0"/>
              </a:spcBef>
              <a:spcAft>
                <a:spcPts val="400"/>
              </a:spcAft>
              <a:defRPr sz="2000" b="0">
                <a:solidFill>
                  <a:srgbClr val="F7F1FF"/>
                </a:solidFill>
                <a:latin typeface="Segoe UI"/>
              </a:defRPr>
            </a:pPr>
            <a:r>
              <a:t>Handle: R17</a:t>
            </a:r>
          </a:p>
          <a:p>
            <a:pPr>
              <a:lnSpc>
                <a:spcPct val="110000"/>
              </a:lnSpc>
              <a:spcBef>
                <a:spcPts val="0"/>
              </a:spcBef>
              <a:spcAft>
                <a:spcPts val="400"/>
              </a:spcAft>
              <a:defRPr sz="2000" b="0">
                <a:solidFill>
                  <a:srgbClr val="F7F1FF"/>
                </a:solidFill>
                <a:latin typeface="Segoe UI"/>
              </a:defRPr>
            </a:pPr>
            <a:r>
              <a:t>Selections: r1 + r2 (one batch)</a:t>
            </a:r>
          </a:p>
          <a:p>
            <a:pPr>
              <a:lnSpc>
                <a:spcPct val="110000"/>
              </a:lnSpc>
              <a:spcBef>
                <a:spcPts val="0"/>
              </a:spcBef>
              <a:spcAft>
                <a:spcPts val="400"/>
              </a:spcAft>
              <a:defRPr sz="2000" b="0">
                <a:solidFill>
                  <a:srgbClr val="F7F1FF"/>
                </a:solidFill>
                <a:latin typeface="Segoe UI"/>
              </a:defRPr>
            </a:pPr>
            <a:r>
              <a:t>Return: exact text at S1</a:t>
            </a:r>
          </a:p>
          <a:p>
            <a:pPr>
              <a:lnSpc>
                <a:spcPct val="110000"/>
              </a:lnSpc>
              <a:spcBef>
                <a:spcPts val="0"/>
              </a:spcBef>
              <a:spcAft>
                <a:spcPts val="0"/>
              </a:spcAft>
              <a:defRPr sz="2000" b="0">
                <a:solidFill>
                  <a:srgbClr val="F7F1FF"/>
                </a:solidFill>
                <a:latin typeface="Segoe UI"/>
              </a:defRPr>
            </a:pPr>
            <a:r>
              <a:t>Report pending ranges when full.</a:t>
            </a:r>
          </a:p>
        </p:txBody>
      </p:sp>
      <p:sp>
        <p:nvSpPr>
          <p:cNvPr id="13" name="TextBox 12"/>
          <p:cNvSpPr txBox="1"/>
          <p:nvPr/>
        </p:nvSpPr>
        <p:spPr>
          <a:xfrm>
            <a:off x="594360" y="5623560"/>
            <a:ext cx="10972800" cy="548640"/>
          </a:xfrm>
          <a:prstGeom prst="rect">
            <a:avLst/>
          </a:prstGeom>
          <a:noFill/>
        </p:spPr>
        <p:txBody>
          <a:bodyPr wrap="square" lIns="0" rIns="0" tIns="0" bIns="0">
            <a:noAutofit/>
          </a:bodyPr>
          <a:lstStyle/>
          <a:p>
            <a:pPr>
              <a:lnSpc>
                <a:spcPct val="110000"/>
              </a:lnSpc>
              <a:spcBef>
                <a:spcPts val="0"/>
              </a:spcBef>
              <a:spcAft>
                <a:spcPts val="0"/>
              </a:spcAft>
              <a:defRPr sz="2300" b="1">
                <a:solidFill>
                  <a:srgbClr val="45E7CD"/>
                </a:solidFill>
                <a:latin typeface="Segoe UI"/>
              </a:defRPr>
            </a:pPr>
            <a:r>
              <a:t>R17 expired? Return RESULT_EXPIRED, then search again.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CORRECTNESS</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A cache hit is useful only when it is safe.</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08</a:t>
            </a:r>
          </a:p>
        </p:txBody>
      </p:sp>
      <p:sp>
        <p:nvSpPr>
          <p:cNvPr id="7" name="Rounded Rectangle 6"/>
          <p:cNvSpPr/>
          <p:nvPr/>
        </p:nvSpPr>
        <p:spPr>
          <a:xfrm>
            <a:off x="594360" y="1965960"/>
            <a:ext cx="5340096" cy="16002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30552"/>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C486FF"/>
                </a:solidFill>
                <a:latin typeface="Segoe UI"/>
              </a:defRPr>
            </a:pPr>
            <a:r>
              <a:t>Actual source snapshot</a:t>
            </a:r>
          </a:p>
        </p:txBody>
      </p:sp>
      <p:sp>
        <p:nvSpPr>
          <p:cNvPr id="9" name="TextBox 8"/>
          <p:cNvSpPr txBox="1"/>
          <p:nvPr/>
        </p:nvSpPr>
        <p:spPr>
          <a:xfrm>
            <a:off x="804672" y="272491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F7F1FF"/>
                </a:solidFill>
                <a:latin typeface="Segoe UI"/>
              </a:defRPr>
            </a:pPr>
            <a:r>
              <a:t>Share verified committed results.</a:t>
            </a:r>
          </a:p>
          <a:p>
            <a:pPr>
              <a:lnSpc>
                <a:spcPct val="110000"/>
              </a:lnSpc>
              <a:spcBef>
                <a:spcPts val="0"/>
              </a:spcBef>
              <a:spcAft>
                <a:spcPts val="0"/>
              </a:spcAft>
              <a:defRPr sz="1800" b="0">
                <a:solidFill>
                  <a:srgbClr val="F7F1FF"/>
                </a:solidFill>
                <a:latin typeface="Segoe UI"/>
              </a:defRPr>
            </a:pPr>
            <a:r>
              <a:t>Dirty / unknown state: bypass or unsupported.</a:t>
            </a:r>
          </a:p>
        </p:txBody>
      </p:sp>
      <p:sp>
        <p:nvSpPr>
          <p:cNvPr id="10" name="Rounded Rectangle 9"/>
          <p:cNvSpPr/>
          <p:nvPr/>
        </p:nvSpPr>
        <p:spPr>
          <a:xfrm>
            <a:off x="6254496" y="1965960"/>
            <a:ext cx="5340096" cy="16002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2130552"/>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C486FF"/>
                </a:solidFill>
                <a:latin typeface="Segoe UI"/>
              </a:defRPr>
            </a:pPr>
            <a:r>
              <a:t>Effective access scope</a:t>
            </a:r>
          </a:p>
        </p:txBody>
      </p:sp>
      <p:sp>
        <p:nvSpPr>
          <p:cNvPr id="12" name="TextBox 11"/>
          <p:cNvSpPr txBox="1"/>
          <p:nvPr/>
        </p:nvSpPr>
        <p:spPr>
          <a:xfrm>
            <a:off x="6464808" y="272491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F7F1FF"/>
                </a:solidFill>
                <a:latin typeface="Segoe UI"/>
              </a:defRPr>
            </a:pPr>
            <a:r>
              <a:t>Authorize every search, detail, and page.</a:t>
            </a:r>
          </a:p>
          <a:p>
            <a:pPr>
              <a:lnSpc>
                <a:spcPct val="110000"/>
              </a:lnSpc>
              <a:spcBef>
                <a:spcPts val="0"/>
              </a:spcBef>
              <a:spcAft>
                <a:spcPts val="0"/>
              </a:spcAft>
              <a:defRPr sz="1800" b="0">
                <a:solidFill>
                  <a:srgbClr val="F7F1FF"/>
                </a:solidFill>
                <a:latin typeface="Segoe UI"/>
              </a:defRPr>
            </a:pPr>
            <a:r>
              <a:t>A result handle is not permission.</a:t>
            </a:r>
          </a:p>
        </p:txBody>
      </p:sp>
      <p:sp>
        <p:nvSpPr>
          <p:cNvPr id="13" name="Rounded Rectangle 12"/>
          <p:cNvSpPr/>
          <p:nvPr/>
        </p:nvSpPr>
        <p:spPr>
          <a:xfrm>
            <a:off x="594360" y="3886200"/>
            <a:ext cx="5340096" cy="16002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50791"/>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C486FF"/>
                </a:solidFill>
                <a:latin typeface="Segoe UI"/>
              </a:defRPr>
            </a:pPr>
            <a:r>
              <a:t>Honest completeness</a:t>
            </a:r>
          </a:p>
        </p:txBody>
      </p:sp>
      <p:sp>
        <p:nvSpPr>
          <p:cNvPr id="15" name="TextBox 14"/>
          <p:cNvSpPr txBox="1"/>
          <p:nvPr/>
        </p:nvSpPr>
        <p:spPr>
          <a:xfrm>
            <a:off x="804672" y="464515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F7F1FF"/>
                </a:solidFill>
                <a:latin typeface="Segoe UI"/>
              </a:defRPr>
            </a:pPr>
            <a:r>
              <a:t>Preserve exact text and source locations.</a:t>
            </a:r>
          </a:p>
          <a:p>
            <a:pPr>
              <a:lnSpc>
                <a:spcPct val="110000"/>
              </a:lnSpc>
              <a:spcBef>
                <a:spcPts val="0"/>
              </a:spcBef>
              <a:spcAft>
                <a:spcPts val="0"/>
              </a:spcAft>
              <a:defRPr sz="1800" b="0">
                <a:solidFill>
                  <a:srgbClr val="F7F1FF"/>
                </a:solidFill>
                <a:latin typeface="Segoe UI"/>
              </a:defRPr>
            </a:pPr>
            <a:r>
              <a:t>Disclose omitted items and partial pages.</a:t>
            </a:r>
          </a:p>
        </p:txBody>
      </p:sp>
      <p:sp>
        <p:nvSpPr>
          <p:cNvPr id="16" name="Rounded Rectangle 15"/>
          <p:cNvSpPr/>
          <p:nvPr/>
        </p:nvSpPr>
        <p:spPr>
          <a:xfrm>
            <a:off x="6254496" y="3886200"/>
            <a:ext cx="5340096" cy="16002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4050791"/>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C486FF"/>
                </a:solidFill>
                <a:latin typeface="Segoe UI"/>
              </a:defRPr>
            </a:pPr>
            <a:r>
              <a:t>Explicit lifecycle</a:t>
            </a:r>
          </a:p>
        </p:txBody>
      </p:sp>
      <p:sp>
        <p:nvSpPr>
          <p:cNvPr id="18" name="TextBox 17"/>
          <p:cNvSpPr txBox="1"/>
          <p:nvPr/>
        </p:nvSpPr>
        <p:spPr>
          <a:xfrm>
            <a:off x="6464808" y="464515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F7F1FF"/>
                </a:solidFill>
                <a:latin typeface="Segoe UI"/>
              </a:defRPr>
            </a:pPr>
            <a:r>
              <a:t>TTL controls retention, not freshness.</a:t>
            </a:r>
          </a:p>
          <a:p>
            <a:pPr>
              <a:lnSpc>
                <a:spcPct val="110000"/>
              </a:lnSpc>
              <a:spcBef>
                <a:spcPts val="0"/>
              </a:spcBef>
              <a:spcAft>
                <a:spcPts val="0"/>
              </a:spcAft>
              <a:defRPr sz="1800" b="0">
                <a:solidFill>
                  <a:srgbClr val="F7F1FF"/>
                </a:solidFill>
                <a:latin typeface="Segoe UI"/>
              </a:defRPr>
            </a:pPr>
            <a:r>
              <a:t>Expired handles require a new 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HACKATHON SCOPE</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Build the narrow solution end to end.</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09</a:t>
            </a:r>
          </a:p>
        </p:txBody>
      </p:sp>
      <p:sp>
        <p:nvSpPr>
          <p:cNvPr id="7" name="Rounded Rectangle 6"/>
          <p:cNvSpPr/>
          <p:nvPr/>
        </p:nvSpPr>
        <p:spPr>
          <a:xfrm>
            <a:off x="594360" y="2011680"/>
            <a:ext cx="5340096" cy="36576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1284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C486FF"/>
                </a:solidFill>
                <a:latin typeface="Segoe UI"/>
              </a:defRPr>
            </a:pPr>
            <a:r>
              <a:t>Build now</a:t>
            </a:r>
          </a:p>
        </p:txBody>
      </p:sp>
      <p:sp>
        <p:nvSpPr>
          <p:cNvPr id="9" name="TextBox 8"/>
          <p:cNvSpPr txBox="1"/>
          <p:nvPr/>
        </p:nvSpPr>
        <p:spPr>
          <a:xfrm>
            <a:off x="813816" y="3035808"/>
            <a:ext cx="4901183" cy="2432304"/>
          </a:xfrm>
          <a:prstGeom prst="rect">
            <a:avLst/>
          </a:prstGeom>
          <a:noFill/>
        </p:spPr>
        <p:txBody>
          <a:bodyPr wrap="square" lIns="0" rIns="0" tIns="0" bIns="0">
            <a:noAutofit/>
          </a:bodyPr>
          <a:lstStyle/>
          <a:p>
            <a:pPr>
              <a:lnSpc>
                <a:spcPct val="110000"/>
              </a:lnSpc>
              <a:spcBef>
                <a:spcPts val="0"/>
              </a:spcBef>
              <a:spcAft>
                <a:spcPts val="400"/>
              </a:spcAft>
              <a:defRPr sz="2100" b="0">
                <a:solidFill>
                  <a:srgbClr val="F7F1FF"/>
                </a:solidFill>
                <a:latin typeface="Segoe UI"/>
              </a:defRPr>
            </a:pPr>
            <a:r>
              <a:t>1. One pinned search/read provider</a:t>
            </a:r>
          </a:p>
          <a:p>
            <a:pPr>
              <a:lnSpc>
                <a:spcPct val="110000"/>
              </a:lnSpc>
              <a:spcBef>
                <a:spcPts val="0"/>
              </a:spcBef>
              <a:spcAft>
                <a:spcPts val="400"/>
              </a:spcAft>
              <a:defRPr sz="2100" b="0">
                <a:solidFill>
                  <a:srgbClr val="F7F1FF"/>
                </a:solidFill>
                <a:latin typeface="Segoe UI"/>
              </a:defRPr>
            </a:pPr>
            <a:r>
              <a:t>2. Shared MCP endpoint + Redis</a:t>
            </a:r>
          </a:p>
          <a:p>
            <a:pPr>
              <a:lnSpc>
                <a:spcPct val="110000"/>
              </a:lnSpc>
              <a:spcBef>
                <a:spcPts val="0"/>
              </a:spcBef>
              <a:spcAft>
                <a:spcPts val="400"/>
              </a:spcAft>
              <a:defRPr sz="2100" b="0">
                <a:solidFill>
                  <a:srgbClr val="F7F1FF"/>
                </a:solidFill>
                <a:latin typeface="Segoe UI"/>
              </a:defRPr>
            </a:pPr>
            <a:r>
              <a:t>3. Preview and detail response packing</a:t>
            </a:r>
          </a:p>
          <a:p>
            <a:pPr>
              <a:lnSpc>
                <a:spcPct val="110000"/>
              </a:lnSpc>
              <a:spcBef>
                <a:spcPts val="0"/>
              </a:spcBef>
              <a:spcAft>
                <a:spcPts val="0"/>
              </a:spcAft>
              <a:defRPr sz="2100" b="0">
                <a:solidFill>
                  <a:srgbClr val="F7F1FF"/>
                </a:solidFill>
                <a:latin typeface="Segoe UI"/>
              </a:defRPr>
            </a:pPr>
            <a:r>
              <a:t>4. Access, expiry, coalescing, metrics</a:t>
            </a:r>
          </a:p>
        </p:txBody>
      </p:sp>
      <p:sp>
        <p:nvSpPr>
          <p:cNvPr id="10" name="Rounded Rectangle 9"/>
          <p:cNvSpPr/>
          <p:nvPr/>
        </p:nvSpPr>
        <p:spPr>
          <a:xfrm>
            <a:off x="6254496" y="2011680"/>
            <a:ext cx="5340096" cy="365760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21284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C486FF"/>
                </a:solidFill>
                <a:latin typeface="Segoe UI"/>
              </a:defRPr>
            </a:pPr>
            <a:r>
              <a:t>Do not build</a:t>
            </a:r>
          </a:p>
        </p:txBody>
      </p:sp>
      <p:sp>
        <p:nvSpPr>
          <p:cNvPr id="12" name="TextBox 11"/>
          <p:cNvSpPr txBox="1"/>
          <p:nvPr/>
        </p:nvSpPr>
        <p:spPr>
          <a:xfrm>
            <a:off x="6473952" y="3035808"/>
            <a:ext cx="4901183" cy="2432304"/>
          </a:xfrm>
          <a:prstGeom prst="rect">
            <a:avLst/>
          </a:prstGeom>
          <a:noFill/>
        </p:spPr>
        <p:txBody>
          <a:bodyPr wrap="square" lIns="0" rIns="0" tIns="0" bIns="0">
            <a:noAutofit/>
          </a:bodyPr>
          <a:lstStyle/>
          <a:p>
            <a:pPr>
              <a:lnSpc>
                <a:spcPct val="110000"/>
              </a:lnSpc>
              <a:spcBef>
                <a:spcPts val="0"/>
              </a:spcBef>
              <a:spcAft>
                <a:spcPts val="400"/>
              </a:spcAft>
              <a:defRPr sz="2100" b="0">
                <a:solidFill>
                  <a:srgbClr val="F7F1FF"/>
                </a:solidFill>
                <a:latin typeface="Segoe UI"/>
              </a:defRPr>
            </a:pPr>
            <a:r>
              <a:t>Custom Roslyn / LSP adapters</a:t>
            </a:r>
          </a:p>
          <a:p>
            <a:pPr>
              <a:lnSpc>
                <a:spcPct val="110000"/>
              </a:lnSpc>
              <a:spcBef>
                <a:spcPts val="0"/>
              </a:spcBef>
              <a:spcAft>
                <a:spcPts val="400"/>
              </a:spcAft>
              <a:defRPr sz="2100" b="0">
                <a:solidFill>
                  <a:srgbClr val="F7F1FF"/>
                </a:solidFill>
                <a:latin typeface="Segoe UI"/>
              </a:defRPr>
            </a:pPr>
            <a:r>
              <a:t>Embeddings or vector / graph stores</a:t>
            </a:r>
          </a:p>
          <a:p>
            <a:pPr>
              <a:lnSpc>
                <a:spcPct val="110000"/>
              </a:lnSpc>
              <a:spcBef>
                <a:spcPts val="0"/>
              </a:spcBef>
              <a:spcAft>
                <a:spcPts val="400"/>
              </a:spcAft>
              <a:defRPr sz="2100" b="0">
                <a:solidFill>
                  <a:srgbClr val="F7F1FF"/>
                </a:solidFill>
                <a:latin typeface="Segoe UI"/>
              </a:defRPr>
            </a:pPr>
            <a:r>
              <a:t>Evidence cards or dependency graphs</a:t>
            </a:r>
          </a:p>
          <a:p>
            <a:pPr>
              <a:lnSpc>
                <a:spcPct val="110000"/>
              </a:lnSpc>
              <a:spcBef>
                <a:spcPts val="0"/>
              </a:spcBef>
              <a:spcAft>
                <a:spcPts val="0"/>
              </a:spcAft>
              <a:defRPr sz="2100" b="0">
                <a:solidFill>
                  <a:srgbClr val="F7F1FF"/>
                </a:solidFill>
                <a:latin typeface="Segoe UI"/>
              </a:defRPr>
            </a:pPr>
            <a:r>
              <a:t>Final-answer, edit, or shell replay</a:t>
            </a:r>
          </a:p>
        </p:txBody>
      </p:sp>
      <p:sp>
        <p:nvSpPr>
          <p:cNvPr id="13" name="TextBox 12"/>
          <p:cNvSpPr txBox="1"/>
          <p:nvPr/>
        </p:nvSpPr>
        <p:spPr>
          <a:xfrm>
            <a:off x="594360" y="5925312"/>
            <a:ext cx="10972800" cy="384048"/>
          </a:xfrm>
          <a:prstGeom prst="rect">
            <a:avLst/>
          </a:prstGeom>
          <a:noFill/>
        </p:spPr>
        <p:txBody>
          <a:bodyPr wrap="square" lIns="0" rIns="0" tIns="0" bIns="0">
            <a:noAutofit/>
          </a:bodyPr>
          <a:lstStyle/>
          <a:p>
            <a:pPr>
              <a:lnSpc>
                <a:spcPct val="110000"/>
              </a:lnSpc>
              <a:spcBef>
                <a:spcPts val="0"/>
              </a:spcBef>
              <a:spcAft>
                <a:spcPts val="0"/>
              </a:spcAft>
              <a:defRPr sz="1800" b="0">
                <a:solidFill>
                  <a:srgbClr val="C4B7D7"/>
                </a:solidFill>
                <a:latin typeface="Segoe UI"/>
              </a:defRPr>
            </a:pPr>
            <a:r>
              <a:t>One service + one Redis instance prove team sharing, not high availability.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0B24"/>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C4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C486FF"/>
                </a:solidFill>
                <a:latin typeface="Segoe UI"/>
              </a:defRPr>
            </a:pPr>
            <a:r>
              <a:t>AGENTCACHEX / THE DEMO</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F7F1FF"/>
                </a:solidFill>
                <a:latin typeface="Segoe UI"/>
              </a:defRPr>
            </a:pPr>
            <a:r>
              <a:t>Prove reuse. Measure the whole task.</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C4B7D7"/>
                </a:solidFill>
                <a:latin typeface="Segoe UI"/>
              </a:defRPr>
            </a:pPr>
            <a:r>
              <a:t>PROPOSED MVP  |  Shared tool-result cache + token optimizer  |  NEON ARCHITECTURE</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C4B7D7"/>
                </a:solidFill>
                <a:latin typeface="Segoe UI"/>
              </a:defRPr>
            </a:pPr>
            <a:r>
              <a:t>10</a:t>
            </a:r>
          </a:p>
        </p:txBody>
      </p:sp>
      <p:sp>
        <p:nvSpPr>
          <p:cNvPr id="7" name="Rounded Rectangle 6"/>
          <p:cNvSpPr/>
          <p:nvPr/>
        </p:nvSpPr>
        <p:spPr>
          <a:xfrm>
            <a:off x="594360" y="2011680"/>
            <a:ext cx="3474720" cy="123444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94560"/>
            <a:ext cx="3072384" cy="502920"/>
          </a:xfrm>
          <a:prstGeom prst="rect">
            <a:avLst/>
          </a:prstGeom>
          <a:noFill/>
        </p:spPr>
        <p:txBody>
          <a:bodyPr wrap="square" lIns="0" rIns="0" tIns="0" bIns="0">
            <a:noAutofit/>
          </a:bodyPr>
          <a:lstStyle/>
          <a:p>
            <a:pPr>
              <a:lnSpc>
                <a:spcPct val="110000"/>
              </a:lnSpc>
              <a:spcBef>
                <a:spcPts val="0"/>
              </a:spcBef>
              <a:spcAft>
                <a:spcPts val="0"/>
              </a:spcAft>
              <a:defRPr sz="2100" b="1">
                <a:solidFill>
                  <a:srgbClr val="C486FF"/>
                </a:solidFill>
                <a:latin typeface="Segoe UI"/>
              </a:defRPr>
            </a:pPr>
            <a:r>
              <a:t>Cold A -&gt; warm B</a:t>
            </a:r>
          </a:p>
        </p:txBody>
      </p:sp>
      <p:sp>
        <p:nvSpPr>
          <p:cNvPr id="9" name="TextBox 8"/>
          <p:cNvSpPr txBox="1"/>
          <p:nvPr/>
        </p:nvSpPr>
        <p:spPr>
          <a:xfrm>
            <a:off x="795528" y="2752344"/>
            <a:ext cx="3072384" cy="429768"/>
          </a:xfrm>
          <a:prstGeom prst="rect">
            <a:avLst/>
          </a:prstGeom>
          <a:noFill/>
        </p:spPr>
        <p:txBody>
          <a:bodyPr wrap="square" lIns="0" rIns="0" tIns="0" bIns="0">
            <a:noAutofit/>
          </a:bodyPr>
          <a:lstStyle/>
          <a:p>
            <a:pPr>
              <a:lnSpc>
                <a:spcPct val="110000"/>
              </a:lnSpc>
              <a:spcBef>
                <a:spcPts val="0"/>
              </a:spcBef>
              <a:spcAft>
                <a:spcPts val="0"/>
              </a:spcAft>
              <a:defRPr sz="1700" b="0">
                <a:solidFill>
                  <a:srgbClr val="F7F1FF"/>
                </a:solidFill>
                <a:latin typeface="Segoe UI"/>
              </a:defRPr>
            </a:pPr>
            <a:r>
              <a:t>Same snapshot and access</a:t>
            </a:r>
          </a:p>
        </p:txBody>
      </p:sp>
      <p:sp>
        <p:nvSpPr>
          <p:cNvPr id="10" name="Rounded Rectangle 9"/>
          <p:cNvSpPr/>
          <p:nvPr/>
        </p:nvSpPr>
        <p:spPr>
          <a:xfrm>
            <a:off x="4361688" y="2011680"/>
            <a:ext cx="3474720" cy="123444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5" y="2194560"/>
            <a:ext cx="3072384" cy="502920"/>
          </a:xfrm>
          <a:prstGeom prst="rect">
            <a:avLst/>
          </a:prstGeom>
          <a:noFill/>
        </p:spPr>
        <p:txBody>
          <a:bodyPr wrap="square" lIns="0" rIns="0" tIns="0" bIns="0">
            <a:noAutofit/>
          </a:bodyPr>
          <a:lstStyle/>
          <a:p>
            <a:pPr>
              <a:lnSpc>
                <a:spcPct val="110000"/>
              </a:lnSpc>
              <a:spcBef>
                <a:spcPts val="0"/>
              </a:spcBef>
              <a:spcAft>
                <a:spcPts val="0"/>
              </a:spcAft>
              <a:defRPr sz="2100" b="1">
                <a:solidFill>
                  <a:srgbClr val="C486FF"/>
                </a:solidFill>
                <a:latin typeface="Segoe UI"/>
              </a:defRPr>
            </a:pPr>
            <a:r>
              <a:t>Change -&gt; new key</a:t>
            </a:r>
          </a:p>
        </p:txBody>
      </p:sp>
      <p:sp>
        <p:nvSpPr>
          <p:cNvPr id="12" name="TextBox 11"/>
          <p:cNvSpPr txBox="1"/>
          <p:nvPr/>
        </p:nvSpPr>
        <p:spPr>
          <a:xfrm>
            <a:off x="4562855" y="2752344"/>
            <a:ext cx="3072384" cy="429768"/>
          </a:xfrm>
          <a:prstGeom prst="rect">
            <a:avLst/>
          </a:prstGeom>
          <a:noFill/>
        </p:spPr>
        <p:txBody>
          <a:bodyPr wrap="square" lIns="0" rIns="0" tIns="0" bIns="0">
            <a:noAutofit/>
          </a:bodyPr>
          <a:lstStyle/>
          <a:p>
            <a:pPr>
              <a:lnSpc>
                <a:spcPct val="110000"/>
              </a:lnSpc>
              <a:spcBef>
                <a:spcPts val="0"/>
              </a:spcBef>
              <a:spcAft>
                <a:spcPts val="0"/>
              </a:spcAft>
              <a:defRPr sz="1700" b="0">
                <a:solidFill>
                  <a:srgbClr val="F7F1FF"/>
                </a:solidFill>
                <a:latin typeface="Segoe UI"/>
              </a:defRPr>
            </a:pPr>
            <a:r>
              <a:t>No stale current-state hit</a:t>
            </a:r>
          </a:p>
        </p:txBody>
      </p:sp>
      <p:sp>
        <p:nvSpPr>
          <p:cNvPr id="13" name="Rounded Rectangle 12"/>
          <p:cNvSpPr/>
          <p:nvPr/>
        </p:nvSpPr>
        <p:spPr>
          <a:xfrm>
            <a:off x="8129016" y="2011680"/>
            <a:ext cx="3474720" cy="123444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2194560"/>
            <a:ext cx="3072384" cy="502920"/>
          </a:xfrm>
          <a:prstGeom prst="rect">
            <a:avLst/>
          </a:prstGeom>
          <a:noFill/>
        </p:spPr>
        <p:txBody>
          <a:bodyPr wrap="square" lIns="0" rIns="0" tIns="0" bIns="0">
            <a:noAutofit/>
          </a:bodyPr>
          <a:lstStyle/>
          <a:p>
            <a:pPr>
              <a:lnSpc>
                <a:spcPct val="110000"/>
              </a:lnSpc>
              <a:spcBef>
                <a:spcPts val="0"/>
              </a:spcBef>
              <a:spcAft>
                <a:spcPts val="0"/>
              </a:spcAft>
              <a:defRPr sz="2100" b="1">
                <a:solidFill>
                  <a:srgbClr val="C486FF"/>
                </a:solidFill>
                <a:latin typeface="Segoe UI"/>
              </a:defRPr>
            </a:pPr>
            <a:r>
              <a:t>Expiry -&gt; re-query</a:t>
            </a:r>
          </a:p>
        </p:txBody>
      </p:sp>
      <p:sp>
        <p:nvSpPr>
          <p:cNvPr id="15" name="TextBox 14"/>
          <p:cNvSpPr txBox="1"/>
          <p:nvPr/>
        </p:nvSpPr>
        <p:spPr>
          <a:xfrm>
            <a:off x="8330184" y="2752344"/>
            <a:ext cx="3072384" cy="429768"/>
          </a:xfrm>
          <a:prstGeom prst="rect">
            <a:avLst/>
          </a:prstGeom>
          <a:noFill/>
        </p:spPr>
        <p:txBody>
          <a:bodyPr wrap="square" lIns="0" rIns="0" tIns="0" bIns="0">
            <a:noAutofit/>
          </a:bodyPr>
          <a:lstStyle/>
          <a:p>
            <a:pPr>
              <a:lnSpc>
                <a:spcPct val="110000"/>
              </a:lnSpc>
              <a:spcBef>
                <a:spcPts val="0"/>
              </a:spcBef>
              <a:spcAft>
                <a:spcPts val="0"/>
              </a:spcAft>
              <a:defRPr sz="1700" b="0">
                <a:solidFill>
                  <a:srgbClr val="F7F1FF"/>
                </a:solidFill>
                <a:latin typeface="Segoe UI"/>
              </a:defRPr>
            </a:pPr>
            <a:r>
              <a:t>No empty success fallback</a:t>
            </a:r>
          </a:p>
        </p:txBody>
      </p:sp>
      <p:sp>
        <p:nvSpPr>
          <p:cNvPr id="16" name="Rounded Rectangle 15"/>
          <p:cNvSpPr/>
          <p:nvPr/>
        </p:nvSpPr>
        <p:spPr>
          <a:xfrm>
            <a:off x="594360" y="3611880"/>
            <a:ext cx="11000232" cy="2423160"/>
          </a:xfrm>
          <a:prstGeom prst="roundRect">
            <a:avLst>
              <a:gd name="adj" fmla="val 8000"/>
            </a:avLst>
          </a:prstGeom>
          <a:solidFill>
            <a:srgbClr val="211737"/>
          </a:solidFill>
          <a:ln w="12700">
            <a:solidFill>
              <a:srgbClr val="513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3813048"/>
            <a:ext cx="10561319" cy="749808"/>
          </a:xfrm>
          <a:prstGeom prst="rect">
            <a:avLst/>
          </a:prstGeom>
          <a:noFill/>
        </p:spPr>
        <p:txBody>
          <a:bodyPr wrap="square" lIns="0" rIns="0" tIns="0" bIns="0">
            <a:noAutofit/>
          </a:bodyPr>
          <a:lstStyle/>
          <a:p>
            <a:pPr>
              <a:lnSpc>
                <a:spcPct val="110000"/>
              </a:lnSpc>
              <a:spcBef>
                <a:spcPts val="0"/>
              </a:spcBef>
              <a:spcAft>
                <a:spcPts val="0"/>
              </a:spcAft>
              <a:defRPr sz="2600" b="1">
                <a:solidFill>
                  <a:srgbClr val="C486FF"/>
                </a:solidFill>
                <a:latin typeface="Segoe UI"/>
              </a:defRPr>
            </a:pPr>
            <a:r>
              <a:t>Decision gate</a:t>
            </a:r>
          </a:p>
        </p:txBody>
      </p:sp>
      <p:sp>
        <p:nvSpPr>
          <p:cNvPr id="18" name="TextBox 17"/>
          <p:cNvSpPr txBox="1"/>
          <p:nvPr/>
        </p:nvSpPr>
        <p:spPr>
          <a:xfrm>
            <a:off x="813816" y="4636008"/>
            <a:ext cx="10561319" cy="1197863"/>
          </a:xfrm>
          <a:prstGeom prst="rect">
            <a:avLst/>
          </a:prstGeom>
          <a:noFill/>
        </p:spPr>
        <p:txBody>
          <a:bodyPr wrap="square" lIns="0" rIns="0" tIns="0" bIns="0">
            <a:noAutofit/>
          </a:bodyPr>
          <a:lstStyle/>
          <a:p>
            <a:pPr>
              <a:lnSpc>
                <a:spcPct val="110000"/>
              </a:lnSpc>
              <a:spcBef>
                <a:spcPts val="0"/>
              </a:spcBef>
              <a:spcAft>
                <a:spcPts val="400"/>
              </a:spcAft>
              <a:defRPr sz="2100" b="0">
                <a:solidFill>
                  <a:srgbClr val="F7F1FF"/>
                </a:solidFill>
                <a:latin typeface="Segoe UI"/>
              </a:defRPr>
            </a:pPr>
            <a:r>
              <a:t>Compare native bounded tools, optimizer-only, and the shared cache.</a:t>
            </a:r>
          </a:p>
          <a:p>
            <a:pPr>
              <a:lnSpc>
                <a:spcPct val="110000"/>
              </a:lnSpc>
              <a:spcBef>
                <a:spcPts val="0"/>
              </a:spcBef>
              <a:spcAft>
                <a:spcPts val="400"/>
              </a:spcAft>
              <a:defRPr sz="2100" b="0">
                <a:solidFill>
                  <a:srgbClr val="F7F1FF"/>
                </a:solidFill>
                <a:latin typeface="Segoe UI"/>
              </a:defRPr>
            </a:pPr>
            <a:r>
              <a:t>Count all model turns, backend reads, latency, and answer quality.</a:t>
            </a:r>
          </a:p>
          <a:p>
            <a:pPr>
              <a:lnSpc>
                <a:spcPct val="110000"/>
              </a:lnSpc>
              <a:spcBef>
                <a:spcPts val="0"/>
              </a:spcBef>
              <a:spcAft>
                <a:spcPts val="0"/>
              </a:spcAft>
              <a:defRPr sz="2100" b="0">
                <a:solidFill>
                  <a:srgbClr val="F7F1FF"/>
                </a:solidFill>
                <a:latin typeface="Segoe UI"/>
              </a:defRPr>
            </a:pPr>
            <a:r>
              <a:t>Keep the wrapper only if its measured benefit is worthwhile.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AgentCacheX - Shared cache. Smaller context.</dc:title>
  <dc:subject>Proposed shared tool-result cache and token optimizer</dc:subject>
  <dc:creator>AgentCacheX</dc:creator>
  <cp:keywords>MCP, Redis, progressive disclosure, language-agnostic</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