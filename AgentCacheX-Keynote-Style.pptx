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88720"/>
            <a:ext cx="10817352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>
                <a:solidFill>
                  <a:srgbClr val="FAFAFC"/>
                </a:solidFill>
                <a:latin typeface="Aptos Display"/>
              </a:rPr>
              <a:t>AgentCacheX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98448" y="2377440"/>
            <a:ext cx="96012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>
                <a:solidFill>
                  <a:srgbClr val="D2D2D7"/>
                </a:solidFill>
                <a:latin typeface="Aptos Display"/>
              </a:rPr>
              <a:t>A memory layer for coding agents.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163824"/>
            <a:ext cx="81655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8E8E93"/>
                </a:solidFill>
                <a:latin typeface="Aptos Display"/>
              </a:rPr>
              <a:t>One repository. Verified context. Less repetition.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142232"/>
            <a:ext cx="3410712" cy="640080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90288" y="4279392"/>
            <a:ext cx="30083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AFAFC"/>
                </a:solidFill>
                <a:latin typeface="Aptos Display"/>
              </a:rPr>
              <a:t>Semantic  ·  AST  · 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153912"/>
            <a:ext cx="108173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Solution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164592"/>
            <a:ext cx="10561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AFAFC"/>
                </a:solidFill>
                <a:latin typeface="Aptos Display"/>
              </a:rPr>
              <a:t>Agents start over.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8813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0">
                <a:solidFill>
                  <a:srgbClr val="D2D2D7"/>
                </a:solidFill>
                <a:latin typeface="Aptos Display"/>
              </a:rPr>
              <a:t>Even when the code hasn’t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901952"/>
            <a:ext cx="80467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8E8E93"/>
                </a:solidFill>
                <a:latin typeface="Aptos Display"/>
              </a:rPr>
              <a:t>Three differently worded requests can trigger the same expensive discovery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688336"/>
            <a:ext cx="4160520" cy="53035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743200"/>
            <a:ext cx="36758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AFAFC"/>
                </a:solidFill>
                <a:latin typeface="Aptos Display"/>
              </a:rPr>
              <a:t>“What does this file do?”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01184" y="2953512"/>
            <a:ext cx="722376" cy="0"/>
          </a:xfrm>
          <a:prstGeom prst="line">
            <a:avLst/>
          </a:prstGeom>
          <a:ln w="1270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4944" y="3438144"/>
            <a:ext cx="4160520" cy="53035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493008"/>
            <a:ext cx="36758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AFAFC"/>
                </a:solidFill>
                <a:latin typeface="Aptos Display"/>
              </a:rPr>
              <a:t>“Explain this implementation.”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01184" y="3703320"/>
            <a:ext cx="722376" cy="0"/>
          </a:xfrm>
          <a:prstGeom prst="line">
            <a:avLst/>
          </a:prstGeom>
          <a:ln w="1270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4944" y="4187952"/>
            <a:ext cx="4160520" cy="53035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242816"/>
            <a:ext cx="3675887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AFAFC"/>
                </a:solidFill>
                <a:latin typeface="Aptos Display"/>
              </a:rPr>
              <a:t>“Summarize this class.”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01184" y="4453128"/>
            <a:ext cx="722376" cy="0"/>
          </a:xfrm>
          <a:prstGeom prst="line">
            <a:avLst/>
          </a:prstGeom>
          <a:ln w="1270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96712" y="2523744"/>
            <a:ext cx="2267712" cy="280720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2816352"/>
            <a:ext cx="162763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AFAFC"/>
                </a:solidFill>
                <a:latin typeface="Aptos Display"/>
              </a:rPr>
              <a:t>Again.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438144"/>
            <a:ext cx="1517904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D2D2D7"/>
                </a:solidFill>
                <a:latin typeface="Aptos Display"/>
              </a:rPr>
              <a:t>Read files
Search symbols
Trace dependencies
Build context
Ask the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523744"/>
            <a:ext cx="2670048" cy="135331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633472"/>
            <a:ext cx="226771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AFAFC"/>
                </a:solidFill>
                <a:latin typeface="Aptos Display"/>
              </a:rPr>
              <a:t>257M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145536"/>
            <a:ext cx="22677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2D2D7"/>
                </a:solidFill>
                <a:latin typeface="Aptos Display"/>
              </a:rPr>
              <a:t>avoidable input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465576"/>
            <a:ext cx="2267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Modeled annual estimate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4050791"/>
            <a:ext cx="2670048" cy="135331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160520"/>
            <a:ext cx="226771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FAFAFC"/>
                </a:solidFill>
                <a:latin typeface="Aptos Display"/>
              </a:rPr>
              <a:t>356K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4672583"/>
            <a:ext cx="22677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2D2D7"/>
                </a:solidFill>
                <a:latin typeface="Aptos Display"/>
              </a:rPr>
              <a:t>avoidable tool calls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4992624"/>
            <a:ext cx="2267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Modeled annual estimate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" y="6492240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Illustrative workload: 20 developers × 15 queries/day × 220 days × 60% 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7000" y="6492240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D2D2D7"/>
                </a:solidFill>
                <a:latin typeface="Aptos Display"/>
              </a:rPr>
              <a:t>AgentCacheX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164592"/>
            <a:ext cx="10561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AFAFC"/>
                </a:solidFill>
                <a:latin typeface="Aptos Display"/>
              </a:rPr>
              <a:t>Remember the evidence. Not the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D2D2D7"/>
                </a:solidFill>
                <a:latin typeface="Aptos Display"/>
              </a:rPr>
              <a:t>AgentCacheX stores compact, source-backed facts that can be verified against the current repository.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084831"/>
            <a:ext cx="2542032" cy="213055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286000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706624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AFAFC"/>
                </a:solidFill>
                <a:latin typeface="Aptos Display"/>
              </a:rP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3227832"/>
            <a:ext cx="2103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Aptos Display"/>
              </a:rPr>
              <a:t>What the file or symbol is responsible for.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84831"/>
            <a:ext cx="2542032" cy="213055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2286000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706624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AFAFC"/>
                </a:solidFill>
                <a:latin typeface="Aptos Display"/>
              </a:rPr>
              <a:t>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3227832"/>
            <a:ext cx="2103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Aptos Display"/>
              </a:rPr>
              <a:t>Classes, methods, interfaces, and control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2084831"/>
            <a:ext cx="2542032" cy="213055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706624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AFAFC"/>
                </a:solidFill>
                <a:latin typeface="Aptos Display"/>
              </a:rPr>
              <a:t>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27832"/>
            <a:ext cx="2103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Aptos Display"/>
              </a:rPr>
              <a:t>What the code calls and what can invalidate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2084831"/>
            <a:ext cx="2542032" cy="2130552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8592" y="2286000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706624"/>
            <a:ext cx="21031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AFAFC"/>
                </a:solidFill>
                <a:latin typeface="Aptos Display"/>
              </a:rPr>
              <a:t>Provenance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3227832"/>
            <a:ext cx="2103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Aptos Display"/>
              </a:rPr>
              <a:t>Path, symbol, line range, and content fingerprints.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38528" y="4745736"/>
            <a:ext cx="8321040" cy="832104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4910328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AFAFC"/>
                </a:solidFill>
                <a:latin typeface="Aptos Display"/>
              </a:rPr>
              <a:t>The coding agent still reasons. It simply starts with verified context instead of zero.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2" y="5769864"/>
            <a:ext cx="728776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8E8E93"/>
                </a:solidFill>
                <a:latin typeface="Aptos Display"/>
              </a:rPr>
              <a:t>No blind replay of patches. No replay of shell trajectories.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" y="6492240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Focused MVP: one repository and coding-agent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492240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D2D2D7"/>
                </a:solidFill>
                <a:latin typeface="Aptos Display"/>
              </a:rPr>
              <a:t>AgentCacheX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164592"/>
            <a:ext cx="10561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AFAFC"/>
                </a:solidFill>
                <a:latin typeface="Aptos Display"/>
              </a:rPr>
              <a:t>One request. Two possible paths.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" y="804672"/>
            <a:ext cx="10927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Aptos Display"/>
              </a:rPr>
              <a:t>A verified warm hit skips redundant exploration. A miss learns for next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978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AFAFC"/>
                </a:solidFill>
                <a:latin typeface="Aptos Display"/>
              </a:rP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26464" y="1636776"/>
            <a:ext cx="0" cy="4270248"/>
          </a:xfrm>
          <a:prstGeom prst="line">
            <a:avLst/>
          </a:prstGeom>
          <a:ln w="12700">
            <a:solidFill>
              <a:srgbClr val="4848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0" y="11978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AFAFC"/>
                </a:solidFill>
                <a:latin typeface="Aptos Display"/>
              </a:rPr>
              <a:t>Agent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39312" y="1636776"/>
            <a:ext cx="0" cy="4270248"/>
          </a:xfrm>
          <a:prstGeom prst="line">
            <a:avLst/>
          </a:prstGeom>
          <a:ln w="12700">
            <a:solidFill>
              <a:srgbClr val="4848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956048" y="11978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AFAFC"/>
                </a:solidFill>
                <a:latin typeface="Aptos Display"/>
              </a:rPr>
              <a:t>AgentCacheX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1636776"/>
            <a:ext cx="0" cy="4270248"/>
          </a:xfrm>
          <a:prstGeom prst="line">
            <a:avLst/>
          </a:prstGeom>
          <a:ln w="12700">
            <a:solidFill>
              <a:srgbClr val="4848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60920" y="11978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AFAFC"/>
                </a:solidFill>
                <a:latin typeface="Aptos Display"/>
              </a:rPr>
              <a:t>Repository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57032" y="1636776"/>
            <a:ext cx="0" cy="4270248"/>
          </a:xfrm>
          <a:prstGeom prst="line">
            <a:avLst/>
          </a:prstGeom>
          <a:ln w="12700">
            <a:solidFill>
              <a:srgbClr val="4848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848088" y="1197864"/>
            <a:ext cx="1783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AFAFC"/>
                </a:solidFill>
                <a:latin typeface="Aptos Display"/>
              </a:rPr>
              <a:t>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44200" y="1636776"/>
            <a:ext cx="0" cy="4270248"/>
          </a:xfrm>
          <a:prstGeom prst="line">
            <a:avLst/>
          </a:prstGeom>
          <a:ln w="12700">
            <a:solidFill>
              <a:srgbClr val="4848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26464" y="1865376"/>
            <a:ext cx="2212848" cy="0"/>
          </a:xfrm>
          <a:prstGeom prst="line">
            <a:avLst/>
          </a:prstGeom>
          <a:ln w="1651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36192" y="1618488"/>
            <a:ext cx="199339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1. Prompt + selected file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39312" y="2395728"/>
            <a:ext cx="2212848" cy="0"/>
          </a:xfrm>
          <a:prstGeom prst="line">
            <a:avLst/>
          </a:prstGeom>
          <a:ln w="1651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49039" y="2148840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2. Lookup intent + target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2160" y="2926080"/>
            <a:ext cx="2404871" cy="0"/>
          </a:xfrm>
          <a:prstGeom prst="line">
            <a:avLst/>
          </a:prstGeom>
          <a:ln w="1651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61888" y="2679192"/>
            <a:ext cx="2185415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3. Verify hashes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639312" y="3456432"/>
            <a:ext cx="2212848" cy="0"/>
          </a:xfrm>
          <a:prstGeom prst="line">
            <a:avLst/>
          </a:prstGeom>
          <a:ln w="1651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49039" y="3209544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4. Fresh context or miss plan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39312" y="3986784"/>
            <a:ext cx="4617719" cy="0"/>
          </a:xfrm>
          <a:prstGeom prst="line">
            <a:avLst/>
          </a:prstGeom>
          <a:ln w="1651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49039" y="3739896"/>
            <a:ext cx="4398263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5. Miss only: inspect code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39312" y="4517136"/>
            <a:ext cx="7104888" cy="0"/>
          </a:xfrm>
          <a:prstGeom prst="line">
            <a:avLst/>
          </a:prstGeom>
          <a:ln w="1651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49039" y="4270248"/>
            <a:ext cx="688543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6. Prompt + compiled context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639312" y="5047488"/>
            <a:ext cx="7104888" cy="0"/>
          </a:xfrm>
          <a:prstGeom prst="line">
            <a:avLst/>
          </a:prstGeom>
          <a:ln w="1651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49039" y="4800600"/>
            <a:ext cx="6885431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7. Grounded explanation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39312" y="5577840"/>
            <a:ext cx="2212848" cy="0"/>
          </a:xfrm>
          <a:prstGeom prst="line">
            <a:avLst/>
          </a:prstGeom>
          <a:ln w="16510">
            <a:solidFill>
              <a:srgbClr val="D2D2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49039" y="5330952"/>
            <a:ext cx="19933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D2D2D7"/>
                </a:solidFill>
                <a:latin typeface="Aptos Display"/>
              </a:rPr>
              <a:t>8. Record evidence +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6492240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Warm path: steps 5 repository exploration can be skipped or sharply reduced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492240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D2D2D7"/>
                </a:solidFill>
                <a:latin typeface="Aptos Display"/>
              </a:rPr>
              <a:t>AgentCacheX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164592"/>
            <a:ext cx="10561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AFAFC"/>
                </a:solidFill>
                <a:latin typeface="Aptos Display"/>
              </a:rPr>
              <a:t>Send less. Keep what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D2D2D7"/>
                </a:solidFill>
                <a:latin typeface="Aptos Display"/>
              </a:rPr>
              <a:t>The LLM receives a smaller, cleaner, cited context package.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64792"/>
            <a:ext cx="5230368" cy="4105656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048256"/>
            <a:ext cx="18836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AFAFC"/>
                </a:solidFill>
                <a:latin typeface="Aptos Display"/>
              </a:rPr>
              <a:t>Without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679192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679192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Original prompt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3118104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118104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Full selected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3557016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557016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Multiple dependency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3995928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995928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Raw search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4434840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434840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Exploratory 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157216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AFAFC"/>
                </a:solidFill>
                <a:latin typeface="Aptos Display"/>
              </a:rPr>
              <a:t>~8,000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5230368"/>
            <a:ext cx="14081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E8E93"/>
                </a:solidFill>
                <a:latin typeface="Aptos Display"/>
              </a:rPr>
              <a:t>input tokens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0216" y="1764792"/>
            <a:ext cx="5230368" cy="4105656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048256"/>
            <a:ext cx="252374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AFAFC"/>
                </a:solidFill>
                <a:latin typeface="Aptos Display"/>
              </a:rPr>
              <a:t>With AgentCacheX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2679192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679192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Original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118104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118104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Verified purpose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3557016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557016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Relevant symbols and control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3995928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995928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Changed snippets only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4434840"/>
            <a:ext cx="4526280" cy="301752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434840"/>
            <a:ext cx="4160520" cy="301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D2D2D7"/>
                </a:solidFill>
                <a:latin typeface="Aptos Display"/>
              </a:rPr>
              <a:t>Exact citations + freshness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157216"/>
            <a:ext cx="15727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AFAFC"/>
                </a:solidFill>
                <a:latin typeface="Aptos Display"/>
              </a:rPr>
              <a:t>~1,500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5230368"/>
            <a:ext cx="140817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E8E93"/>
                </a:solidFill>
                <a:latin typeface="Aptos Display"/>
              </a:rPr>
              <a:t>input tokens</a:t>
            </a:r>
          </a:p>
        </p:txBody>
      </p:sp>
      <p:sp>
        <p:nvSpPr>
          <p:cNvPr id="33" name="Oval 32"/>
          <p:cNvSpPr/>
          <p:nvPr/>
        </p:nvSpPr>
        <p:spPr>
          <a:xfrm>
            <a:off x="5614416" y="3529584"/>
            <a:ext cx="685800" cy="6858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A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14416" y="3529584"/>
            <a:ext cx="685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AFAFC"/>
                </a:solidFill>
                <a:latin typeface="Aptos Display"/>
              </a:rPr>
              <a:t>81%
less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" y="6492240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Illustrative assumptions — validate through pilot telemetry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492240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D2D2D7"/>
                </a:solidFill>
                <a:latin typeface="Aptos Display"/>
              </a:rPr>
              <a:t>AgentCacheX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164592"/>
            <a:ext cx="10561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AFAFC"/>
                </a:solidFill>
                <a:latin typeface="Aptos Display"/>
              </a:rPr>
              <a:t>Similarity finds. Verification decides.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8173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D2D2D7"/>
                </a:solidFill>
                <a:latin typeface="Aptos Display"/>
              </a:rPr>
              <a:t>AST helps recognize related code. Git and dependency fingerprints determine whether reuse is safe.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901952"/>
            <a:ext cx="2029968" cy="193852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59" y="2093976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59" y="2514600"/>
            <a:ext cx="1664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AFAFC"/>
                </a:solidFill>
                <a:latin typeface="Aptos Display"/>
              </a:rPr>
              <a:t>Normalize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59" y="2990088"/>
            <a:ext cx="16642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Intent
Target
Requested aspects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78024" y="2871216"/>
            <a:ext cx="265176" cy="0"/>
          </a:xfrm>
          <a:prstGeom prst="line">
            <a:avLst/>
          </a:prstGeom>
          <a:ln w="1270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901952"/>
            <a:ext cx="2029968" cy="193852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2093976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514600"/>
            <a:ext cx="1664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AFAFC"/>
                </a:solidFill>
                <a:latin typeface="Aptos Display"/>
              </a:rPr>
              <a:t>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990088"/>
            <a:ext cx="16642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Exact key
Semantic match
Lexical match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37176" y="2871216"/>
            <a:ext cx="265176" cy="0"/>
          </a:xfrm>
          <a:prstGeom prst="line">
            <a:avLst/>
          </a:prstGeom>
          <a:ln w="1270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8072" y="1901952"/>
            <a:ext cx="2029968" cy="193852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2093976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514600"/>
            <a:ext cx="1664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AFAFC"/>
                </a:solidFill>
                <a:latin typeface="Aptos Display"/>
              </a:rP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990088"/>
            <a:ext cx="16642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AST
Symbols
Call graph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6328" y="2871216"/>
            <a:ext cx="265176" cy="0"/>
          </a:xfrm>
          <a:prstGeom prst="line">
            <a:avLst/>
          </a:prstGeom>
          <a:ln w="1270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07224" y="1901952"/>
            <a:ext cx="2029968" cy="193852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71816" y="2093976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6" y="2514600"/>
            <a:ext cx="1664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AFAFC"/>
                </a:solidFill>
                <a:latin typeface="Aptos Display"/>
              </a:rPr>
              <a:t>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2990088"/>
            <a:ext cx="16642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Content hash
Dependencies
Working tree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2871216"/>
            <a:ext cx="265176" cy="0"/>
          </a:xfrm>
          <a:prstGeom prst="line">
            <a:avLst/>
          </a:prstGeom>
          <a:ln w="12700">
            <a:solidFill>
              <a:srgbClr val="8E8E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66376" y="1901952"/>
            <a:ext cx="2029968" cy="193852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30968" y="2093976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0968" y="2514600"/>
            <a:ext cx="1664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AFAFC"/>
                </a:solidFill>
                <a:latin typeface="Aptos Display"/>
              </a:rPr>
              <a:t>Compile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0968" y="2990088"/>
            <a:ext cx="166420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Rank
Deduplicate
Token budget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25696"/>
            <a:ext cx="2523744" cy="93268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" y="4572000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AFAFC"/>
                </a:solidFill>
                <a:latin typeface="Aptos Display"/>
              </a:rPr>
              <a:t>Fresh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72768" y="4535424"/>
            <a:ext cx="1399032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Reuse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65576" y="4425696"/>
            <a:ext cx="2523744" cy="93268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2" y="4572000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AFAFC"/>
                </a:solidFill>
                <a:latin typeface="Aptos Display"/>
              </a:rPr>
              <a:t>Partial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9976" y="4535424"/>
            <a:ext cx="1399032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Inspect changed dependencies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72783" y="4425696"/>
            <a:ext cx="2523744" cy="93268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572000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AFAFC"/>
                </a:solidFill>
                <a:latin typeface="Aptos Display"/>
              </a:rPr>
              <a:t>Stale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7183" y="4535424"/>
            <a:ext cx="1399032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Reject and refresh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9992" y="4425696"/>
            <a:ext cx="2523744" cy="932688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53728" y="4572000"/>
            <a:ext cx="749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AFAFC"/>
                </a:solidFill>
                <a:latin typeface="Aptos Display"/>
              </a:rPr>
              <a:t>Miss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4392" y="4535424"/>
            <a:ext cx="1399032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Explore and 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55264" y="5806440"/>
            <a:ext cx="56784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AFAFC"/>
                </a:solidFill>
                <a:latin typeface="Aptos Display"/>
              </a:rPr>
              <a:t>AST is a signal. Never the proof.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" y="6492240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Illustrative assumptions — validate through pilot telemetry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6492240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D2D2D7"/>
                </a:solidFill>
                <a:latin typeface="Aptos Display"/>
              </a:rPr>
              <a:t>AgentCacheX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164592"/>
            <a:ext cx="10561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AFAFC"/>
                </a:solidFill>
                <a:latin typeface="Aptos Display"/>
              </a:rPr>
              <a:t>The goal is measurable.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420624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D2D2D7"/>
                </a:solidFill>
                <a:latin typeface="Aptos Display"/>
              </a:rPr>
              <a:t>Per verified warm 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0912" y="1115568"/>
            <a:ext cx="6583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D2D2D7"/>
                </a:solidFill>
                <a:latin typeface="Aptos Display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24144" y="1115568"/>
            <a:ext cx="65836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91639"/>
            <a:ext cx="1280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2D2D7"/>
                </a:solidFill>
                <a:latin typeface="Aptos Display"/>
              </a:rPr>
              <a:t>Input tokens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48256" y="1746504"/>
            <a:ext cx="3730752" cy="91440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48256" y="1965960"/>
            <a:ext cx="3730752" cy="91440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48256" y="1746504"/>
            <a:ext cx="3730752" cy="91440"/>
          </a:xfrm>
          <a:prstGeom prst="round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48256" y="1965960"/>
            <a:ext cx="699516" cy="91440"/>
          </a:xfrm>
          <a:prstGeom prst="roundRect">
            <a:avLst/>
          </a:prstGeom>
          <a:solidFill>
            <a:srgbClr val="8E8E93"/>
          </a:solidFill>
          <a:ln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1664207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AFAFC"/>
                </a:solidFill>
                <a:latin typeface="Aptos Display"/>
              </a:rPr>
              <a:t>8000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88366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8E8E93"/>
                </a:solidFill>
                <a:latin typeface="Aptos Display"/>
              </a:rPr>
              <a:t>1500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68879"/>
            <a:ext cx="1280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2D2D7"/>
                </a:solidFill>
                <a:latin typeface="Aptos Display"/>
              </a:rPr>
              <a:t>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8256" y="2523744"/>
            <a:ext cx="3730752" cy="91440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48256" y="2743200"/>
            <a:ext cx="3730752" cy="91440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48256" y="2523744"/>
            <a:ext cx="3730752" cy="91440"/>
          </a:xfrm>
          <a:prstGeom prst="round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048256" y="2743200"/>
            <a:ext cx="829056" cy="91440"/>
          </a:xfrm>
          <a:prstGeom prst="roundRect">
            <a:avLst/>
          </a:prstGeom>
          <a:solidFill>
            <a:srgbClr val="8E8E93"/>
          </a:solidFill>
          <a:ln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0448" y="2441448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AFAFC"/>
                </a:solidFill>
                <a:latin typeface="Aptos Display"/>
              </a:rPr>
              <a:t>18s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660903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8E8E93"/>
                </a:solidFill>
                <a:latin typeface="Aptos Display"/>
              </a:rPr>
              <a:t>4s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246120"/>
            <a:ext cx="128016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2D2D7"/>
                </a:solidFill>
                <a:latin typeface="Aptos Display"/>
              </a:rPr>
              <a:t>Tool calls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48256" y="3300984"/>
            <a:ext cx="3730752" cy="91440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48256" y="3520439"/>
            <a:ext cx="3730752" cy="91440"/>
          </a:xfrm>
          <a:prstGeom prst="roundRect">
            <a:avLst/>
          </a:prstGeom>
          <a:solidFill>
            <a:srgbClr val="1A1A1C"/>
          </a:solidFill>
          <a:ln w="635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48256" y="3300984"/>
            <a:ext cx="3730752" cy="91440"/>
          </a:xfrm>
          <a:prstGeom prst="roundRect">
            <a:avLst/>
          </a:prstGeom>
          <a:solidFill>
            <a:srgbClr val="D2D2D7"/>
          </a:solidFill>
          <a:ln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48256" y="3520439"/>
            <a:ext cx="932688" cy="91440"/>
          </a:xfrm>
          <a:prstGeom prst="roundRect">
            <a:avLst/>
          </a:prstGeom>
          <a:solidFill>
            <a:srgbClr val="8E8E93"/>
          </a:solidFill>
          <a:ln>
            <a:solidFill>
              <a:srgbClr val="8E8E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0448" y="3218688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FAFAFC"/>
                </a:solidFill>
                <a:latin typeface="Aptos Display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3438144"/>
            <a:ext cx="57607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8E8E93"/>
                </a:solidFill>
                <a:latin typeface="Aptos Display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4160520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AFAFC"/>
                </a:solidFill>
                <a:latin typeface="Aptos Display"/>
              </a:rPr>
              <a:t>81%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4617720"/>
            <a:ext cx="14173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fewer tokens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96896" y="4160520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AFAFC"/>
                </a:solidFill>
                <a:latin typeface="Aptos Display"/>
              </a:rPr>
              <a:t>78%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4617720"/>
            <a:ext cx="14173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less latency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160520"/>
            <a:ext cx="14173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FAFAFC"/>
                </a:solidFill>
                <a:latin typeface="Aptos Display"/>
              </a:rPr>
              <a:t>75%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4617720"/>
            <a:ext cx="141732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fewer tool calls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76288" y="1024128"/>
            <a:ext cx="4663440" cy="4261104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1344168"/>
            <a:ext cx="3566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FAFAFC"/>
                </a:solidFill>
                <a:latin typeface="Aptos Display"/>
              </a:rPr>
              <a:t>Annual illustration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336" y="1993392"/>
            <a:ext cx="13898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AFAFC"/>
                </a:solidFill>
                <a:latin typeface="Aptos Display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0336" y="2359152"/>
            <a:ext cx="13898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developers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993392"/>
            <a:ext cx="13898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AFAFC"/>
                </a:solidFill>
                <a:latin typeface="Aptos Display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59152"/>
            <a:ext cx="13898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queries / 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0336" y="2980944"/>
            <a:ext cx="13898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AFAFC"/>
                </a:solidFill>
                <a:latin typeface="Aptos Display"/>
              </a:rPr>
              <a:t>220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0336" y="3346704"/>
            <a:ext cx="13898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2980944"/>
            <a:ext cx="13898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AFAFC"/>
                </a:solidFill>
                <a:latin typeface="Aptos Display"/>
              </a:rPr>
              <a:t>60%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346704"/>
            <a:ext cx="13898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8E8E93"/>
                </a:solidFill>
                <a:latin typeface="Aptos Display"/>
              </a:rPr>
              <a:t>verified reuse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4059936"/>
            <a:ext cx="3931920" cy="9144"/>
          </a:xfrm>
          <a:prstGeom prst="rect">
            <a:avLst/>
          </a:prstGeom>
          <a:solidFill>
            <a:srgbClr val="484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42048" y="4288536"/>
            <a:ext cx="1152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AFAFC"/>
                </a:solidFill>
                <a:latin typeface="Aptos Display"/>
              </a:rPr>
              <a:t>257M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7616" y="4352544"/>
            <a:ext cx="2487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2D2D7"/>
                </a:solidFill>
                <a:latin typeface="Aptos Display"/>
              </a:rPr>
              <a:t>input tokens avoided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2048" y="4782312"/>
            <a:ext cx="11521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FAFAFC"/>
                </a:solidFill>
                <a:latin typeface="Aptos Display"/>
              </a:rPr>
              <a:t>356K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57616" y="4846320"/>
            <a:ext cx="2487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D2D2D7"/>
                </a:solidFill>
                <a:latin typeface="Aptos Display"/>
              </a:rPr>
              <a:t>tool calls avoided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" y="6492240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Modeled estimates exclude embedding, cache lookup, and storage overhead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6492240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D2D2D7"/>
                </a:solidFill>
                <a:latin typeface="Aptos Display"/>
              </a:rPr>
              <a:t>AgentCacheX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502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9264" y="164592"/>
            <a:ext cx="105613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AFAFC"/>
                </a:solidFill>
                <a:latin typeface="Aptos Display"/>
              </a:rPr>
              <a:t>Start small. Prove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10881360" cy="5577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0">
                <a:solidFill>
                  <a:srgbClr val="D2D2D7"/>
                </a:solidFill>
                <a:latin typeface="Aptos Display"/>
              </a:rPr>
              <a:t>One repository. One use case. Four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468880" cy="166420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57400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59736"/>
            <a:ext cx="20848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AFAFC"/>
                </a:solidFill>
                <a:latin typeface="Aptos Display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52928"/>
            <a:ext cx="20848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Files, symbols,
AST, fingerprints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1874519"/>
            <a:ext cx="2468880" cy="166420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057400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459736"/>
            <a:ext cx="20848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AFAFC"/>
                </a:solidFill>
                <a:latin typeface="Aptos Display"/>
              </a:rPr>
              <a:t>Integrate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852928"/>
            <a:ext cx="20848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MCP lookup,
record, explain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1874519"/>
            <a:ext cx="2468880" cy="166420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484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057400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459736"/>
            <a:ext cx="20848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AFAFC"/>
                </a:solidFill>
                <a:latin typeface="Aptos Display"/>
              </a:rPr>
              <a:t>Demonstrate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52928"/>
            <a:ext cx="20848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Cold, warm,
selective invalidation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25128" y="1874519"/>
            <a:ext cx="2468880" cy="1664208"/>
          </a:xfrm>
          <a:prstGeom prst="roundRect">
            <a:avLst/>
          </a:prstGeom>
          <a:solidFill>
            <a:srgbClr val="101012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8007" y="2057400"/>
            <a:ext cx="4206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8E8E93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8007" y="2459736"/>
            <a:ext cx="2084831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AFAFC"/>
                </a:solidFill>
                <a:latin typeface="Aptos Display"/>
              </a:rPr>
              <a:t>Measure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7" y="2852928"/>
            <a:ext cx="208483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Aptos Display"/>
              </a:rPr>
              <a:t>Precision, tokens,
latency, tool calls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1148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AFAFC"/>
                </a:solidFill>
                <a:latin typeface="Aptos Display"/>
              </a:rPr>
              <a:t>≥95%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626864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E8E93"/>
                </a:solidFill>
                <a:latin typeface="Aptos Display"/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5887" y="41148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AFAFC"/>
                </a:solidFill>
                <a:latin typeface="Aptos Display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5887" y="4626864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E8E93"/>
                </a:solidFill>
                <a:latin typeface="Aptos Display"/>
              </a:rPr>
              <a:t>stale serves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1148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AFAFC"/>
                </a:solidFill>
                <a:latin typeface="Aptos Display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626864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E8E93"/>
                </a:solidFill>
                <a:latin typeface="Aptos Display"/>
              </a:rPr>
              <a:t>citations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4114800"/>
            <a:ext cx="1417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AFAFC"/>
                </a:solidFill>
                <a:latin typeface="Aptos Display"/>
              </a:rPr>
              <a:t>&lt;1s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4626864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8E8E93"/>
                </a:solidFill>
                <a:latin typeface="Aptos Display"/>
              </a:rPr>
              <a:t>p95 lookup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83664" y="5367528"/>
            <a:ext cx="8430768" cy="740664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76272" y="5522976"/>
            <a:ext cx="784555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AFAFC"/>
                </a:solidFill>
                <a:latin typeface="Aptos Display"/>
              </a:rPr>
              <a:t>Less exploration. Smaller context. No stale knowledge.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6492240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8E8E93"/>
                </a:solidFill>
                <a:latin typeface="Aptos Display"/>
              </a:rPr>
              <a:t>Recommended first use case: explain a file and trace its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492240"/>
            <a:ext cx="1261872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1">
                <a:solidFill>
                  <a:srgbClr val="D2D2D7"/>
                </a:solidFill>
                <a:latin typeface="Aptos Display"/>
              </a:rPr>
              <a:t>AgentCacheX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