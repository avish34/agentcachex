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96" y="1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title>
      <c:tx>
        <c:rich>
          <a:bodyPr/>
          <a:lstStyle/>
          <a:p>
            <a:r>
              <a:rPr sz="1500">
                <a:solidFill>
                  <a:srgbClr val="F5F9FF"/>
                </a:solidFill>
              </a:rPr>
              <a:t>66,000 annual coding-agent queries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Queries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2DD4BF"/>
              </a:solidFill>
            </c:spPr>
            <c:extLst>
              <c:ext xmlns:c16="http://schemas.microsoft.com/office/drawing/2014/chart" uri="{C3380CC4-5D6E-409C-BE32-E72D297353CC}">
                <c16:uniqueId val="{00000001-C80F-4949-9CFF-EEE155D28CAB}"/>
              </c:ext>
            </c:extLst>
          </c:dPt>
          <c:dPt>
            <c:idx val="1"/>
            <c:bubble3D val="0"/>
            <c:spPr>
              <a:solidFill>
                <a:srgbClr val="345278"/>
              </a:solidFill>
            </c:spPr>
            <c:extLst>
              <c:ext xmlns:c16="http://schemas.microsoft.com/office/drawing/2014/chart" uri="{C3380CC4-5D6E-409C-BE32-E72D297353CC}">
                <c16:uniqueId val="{00000003-C80F-4949-9CFF-EEE155D28CAB}"/>
              </c:ext>
            </c:extLst>
          </c:dPt>
          <c:cat>
            <c:strRef>
              <c:f>Sheet1!$A$2:$A$3</c:f>
              <c:strCache>
                <c:ptCount val="2"/>
                <c:pt idx="0">
                  <c:v>Reusable</c:v>
                </c:pt>
                <c:pt idx="1">
                  <c:v>Unique / stale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39600</c:v>
                </c:pt>
                <c:pt idx="1">
                  <c:v>26400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80F-4949-9CFF-EEE155D28C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overlay val="0"/>
      <c:txPr>
        <a:bodyPr/>
        <a:lstStyle/>
        <a:p>
          <a:pPr>
            <a:defRPr sz="1000">
              <a:solidFill>
                <a:srgbClr val="B2CDE7"/>
              </a:solidFill>
            </a:defRPr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gentCacheX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54112" y="5303520"/>
            <a:ext cx="3401568" cy="713232"/>
          </a:xfrm>
          <a:prstGeom prst="roundRect">
            <a:avLst/>
          </a:prstGeom>
          <a:solidFill>
            <a:srgbClr val="0F2646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936992" y="5449824"/>
            <a:ext cx="303580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5F9FF"/>
                </a:solidFill>
                <a:latin typeface="Aptos"/>
              </a:rPr>
              <a:t>Repository-aware cache for coding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6291072"/>
            <a:ext cx="99212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B2CDE7"/>
                </a:solidFill>
                <a:latin typeface="Aptos"/>
              </a:rPr>
              <a:t>Focused MVP • Single repository • Hybrid semantic + AST + Git validation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9184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19456"/>
            <a:ext cx="106070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5F9FF"/>
                </a:solidFill>
                <a:latin typeface="Aptos"/>
              </a:rPr>
              <a:t>Coding agents repeatedly rediscover the same repository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50392"/>
            <a:ext cx="11018520" cy="22860"/>
          </a:xfrm>
          <a:prstGeom prst="rect">
            <a:avLst/>
          </a:prstGeom>
          <a:solidFill>
            <a:srgbClr val="345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170432"/>
            <a:ext cx="106984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5F9FF"/>
                </a:solidFill>
                <a:latin typeface="Aptos"/>
              </a:rPr>
              <a:t>Every similar request starts from zero: </a:t>
            </a:r>
            <a:r>
              <a:rPr sz="2000" b="0">
                <a:solidFill>
                  <a:srgbClr val="B2CDE7"/>
                </a:solidFill>
                <a:latin typeface="Aptos"/>
              </a:rPr>
              <a:t>read files → search symbols → trace dependencies → rebuild context.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83664"/>
            <a:ext cx="2423160" cy="1481328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1993392"/>
            <a:ext cx="209397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38BDF8"/>
                </a:solidFill>
                <a:latin typeface="Apto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523744"/>
            <a:ext cx="20939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5F9FF"/>
                </a:solidFill>
                <a:latin typeface="Aptos"/>
              </a:rPr>
              <a:t>developers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889504"/>
            <a:ext cx="20939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Using coding agents in one repository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883664"/>
            <a:ext cx="2423160" cy="1481328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66160" y="1993392"/>
            <a:ext cx="209397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A855F7"/>
                </a:solidFill>
                <a:latin typeface="Aptos"/>
              </a:rPr>
              <a:t>15/day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523744"/>
            <a:ext cx="20939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5F9FF"/>
                </a:solidFill>
                <a:latin typeface="Aptos"/>
              </a:rPr>
              <a:t>queries per developer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889504"/>
            <a:ext cx="20939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Explanation, debugging, review, navigation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883664"/>
            <a:ext cx="2423160" cy="1481328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90488" y="1993392"/>
            <a:ext cx="209397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BBF24"/>
                </a:solidFill>
                <a:latin typeface="Aptos"/>
              </a:rPr>
              <a:t>66K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2523744"/>
            <a:ext cx="20939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5F9FF"/>
                </a:solidFill>
                <a:latin typeface="Aptos"/>
              </a:rPr>
              <a:t>annual agent queries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2889504"/>
            <a:ext cx="20939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20 × 15 × 220 working days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50224" y="1883664"/>
            <a:ext cx="2423160" cy="1481328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14816" y="1993392"/>
            <a:ext cx="209397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2DD4BF"/>
                </a:solidFill>
                <a:latin typeface="Aptos"/>
              </a:rPr>
              <a:t>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14816" y="2523744"/>
            <a:ext cx="20939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5F9FF"/>
                </a:solidFill>
                <a:latin typeface="Aptos"/>
              </a:rPr>
              <a:t>potentially reusable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14816" y="2889504"/>
            <a:ext cx="20939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Assumption to validate in pilot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30752"/>
            <a:ext cx="10296144" cy="1609344"/>
          </a:xfrm>
          <a:prstGeom prst="roundRect">
            <a:avLst/>
          </a:prstGeom>
          <a:solidFill>
            <a:srgbClr val="0F264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4128" y="3913632"/>
            <a:ext cx="3108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B2CDE7"/>
                </a:solidFill>
                <a:latin typeface="Aptos"/>
              </a:rPr>
              <a:t>Illustrative avoidable exploration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279392"/>
            <a:ext cx="9820656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2DD4BF"/>
                </a:solidFill>
                <a:latin typeface="Aptos"/>
              </a:rPr>
              <a:t>39,600</a:t>
            </a:r>
            <a:r>
              <a:rPr sz="2100" b="0">
                <a:solidFill>
                  <a:srgbClr val="B2CDE7"/>
                </a:solidFill>
                <a:latin typeface="Aptos"/>
              </a:rPr>
              <a:t> reusable queries  ×  </a:t>
            </a:r>
            <a:r>
              <a:rPr sz="2100" b="1">
                <a:solidFill>
                  <a:srgbClr val="38BDF8"/>
                </a:solidFill>
                <a:latin typeface="Aptos"/>
              </a:rPr>
              <a:t>6,500</a:t>
            </a:r>
            <a:r>
              <a:rPr sz="2100" b="0">
                <a:solidFill>
                  <a:srgbClr val="B2CDE7"/>
                </a:solidFill>
                <a:latin typeface="Aptos"/>
              </a:rPr>
              <a:t> avoidable tokens/query  =  </a:t>
            </a:r>
            <a:r>
              <a:rPr sz="2100" b="1">
                <a:solidFill>
                  <a:srgbClr val="F5F9FF"/>
                </a:solidFill>
                <a:latin typeface="Aptos"/>
              </a:rPr>
              <a:t>257.4M tokens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846320"/>
            <a:ext cx="98206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5F9FF"/>
                </a:solidFill>
                <a:latin typeface="Aptos"/>
              </a:rPr>
              <a:t>Problem in one sentence: coding agents pay again to rediscover knowledge the repository has not changed.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510528"/>
            <a:ext cx="78638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Illustrative workload model — not production telemetry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5560" y="6510528"/>
            <a:ext cx="1371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38BDF8"/>
                </a:solidFill>
                <a:latin typeface="Aptos"/>
              </a:rPr>
              <a:t>AgentCacheX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9184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19456"/>
            <a:ext cx="106070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5F9FF"/>
                </a:solidFill>
                <a:latin typeface="Aptos"/>
              </a:rPr>
              <a:t>Example: “Please explain what this file does”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50392"/>
            <a:ext cx="11018520" cy="22860"/>
          </a:xfrm>
          <a:prstGeom prst="rect">
            <a:avLst/>
          </a:prstGeom>
          <a:solidFill>
            <a:srgbClr val="345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914400"/>
            <a:ext cx="108813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B2CDE7"/>
                </a:solidFill>
                <a:latin typeface="Aptos"/>
              </a:rPr>
              <a:t>The IDE supplies the selected file; AgentCacheX decides what can be reused.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5074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A855F7"/>
                </a:solidFill>
                <a:latin typeface="Aptos"/>
              </a:rPr>
              <a:t>COLD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298448"/>
            <a:ext cx="5074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DD4BF"/>
                </a:solidFill>
                <a:latin typeface="Aptos"/>
              </a:rPr>
              <a:t>WARM REQUEST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73936"/>
            <a:ext cx="1078992" cy="1243584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05256" y="1901952"/>
            <a:ext cx="384048" cy="384048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5256" y="1901952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71426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322576"/>
            <a:ext cx="822959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9FF"/>
                </a:solidFill>
                <a:latin typeface="Aptos"/>
              </a:rPr>
              <a:t>Resolve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06040"/>
            <a:ext cx="822959" cy="338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B2CDE7"/>
                </a:solidFill>
                <a:latin typeface="Aptos"/>
              </a:rPr>
              <a:t>Prompt + selected file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56231" y="2395728"/>
            <a:ext cx="173737" cy="0"/>
          </a:xfrm>
          <a:prstGeom prst="line">
            <a:avLst/>
          </a:prstGeom>
          <a:ln w="19050">
            <a:solidFill>
              <a:srgbClr val="A85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048255" y="1773936"/>
            <a:ext cx="1078992" cy="1243584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176272" y="1901952"/>
            <a:ext cx="384048" cy="384048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176272" y="1901952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71426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2322576"/>
            <a:ext cx="822959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9FF"/>
                </a:solidFill>
                <a:latin typeface="Aptos"/>
              </a:rPr>
              <a:t>Explore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6272" y="2606040"/>
            <a:ext cx="822959" cy="338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B2CDE7"/>
                </a:solidFill>
                <a:latin typeface="Aptos"/>
              </a:rPr>
              <a:t>Read file, search symbols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27248" y="2395728"/>
            <a:ext cx="173736" cy="0"/>
          </a:xfrm>
          <a:prstGeom prst="line">
            <a:avLst/>
          </a:prstGeom>
          <a:ln w="19050">
            <a:solidFill>
              <a:srgbClr val="A85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319272" y="1773936"/>
            <a:ext cx="1078992" cy="1243584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447288" y="1901952"/>
            <a:ext cx="384048" cy="384048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47288" y="1901952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71426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7288" y="2322576"/>
            <a:ext cx="822959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9FF"/>
                </a:solidFill>
                <a:latin typeface="Aptos"/>
              </a:rPr>
              <a:t>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7288" y="2606040"/>
            <a:ext cx="822959" cy="338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B2CDE7"/>
                </a:solidFill>
                <a:latin typeface="Aptos"/>
              </a:rPr>
              <a:t>Open dependencies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398264" y="2395728"/>
            <a:ext cx="173736" cy="0"/>
          </a:xfrm>
          <a:prstGeom prst="line">
            <a:avLst/>
          </a:prstGeom>
          <a:ln w="19050">
            <a:solidFill>
              <a:srgbClr val="A85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590288" y="1773936"/>
            <a:ext cx="1078992" cy="1243584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718303" y="1901952"/>
            <a:ext cx="384048" cy="384048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18303" y="1901952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71426"/>
                </a:solidFill>
                <a:latin typeface="Apto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18303" y="2322576"/>
            <a:ext cx="822959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9FF"/>
                </a:solidFill>
                <a:latin typeface="Aptos"/>
              </a:rPr>
              <a:t>Explain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18303" y="2606040"/>
            <a:ext cx="822959" cy="338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B2CDE7"/>
                </a:solidFill>
                <a:latin typeface="Aptos"/>
              </a:rPr>
              <a:t>Build full model context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27648" y="1773936"/>
            <a:ext cx="1078992" cy="1243584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455664" y="1901952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55664" y="1901952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71426"/>
                </a:solidFill>
                <a:latin typeface="Aptos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2322576"/>
            <a:ext cx="822959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9FF"/>
                </a:solidFill>
                <a:latin typeface="Aptos"/>
              </a:rPr>
              <a:t>Resolve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4" y="2606040"/>
            <a:ext cx="822959" cy="338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B2CDE7"/>
                </a:solidFill>
                <a:latin typeface="Aptos"/>
              </a:rPr>
              <a:t>Prompt + selected file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406640" y="2395728"/>
            <a:ext cx="173735" cy="0"/>
          </a:xfrm>
          <a:prstGeom prst="line">
            <a:avLst/>
          </a:prstGeom>
          <a:ln w="1905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7598664" y="1773936"/>
            <a:ext cx="1078992" cy="1243584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7726680" y="1901952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26680" y="1901952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71426"/>
                </a:solidFill>
                <a:latin typeface="Aptos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26680" y="2322576"/>
            <a:ext cx="822959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9FF"/>
                </a:solidFill>
                <a:latin typeface="Aptos"/>
              </a:rPr>
              <a:t>Lookup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2606040"/>
            <a:ext cx="822959" cy="338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B2CDE7"/>
                </a:solidFill>
                <a:latin typeface="Aptos"/>
              </a:rPr>
              <a:t>Semantic intent match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677656" y="2395728"/>
            <a:ext cx="173736" cy="0"/>
          </a:xfrm>
          <a:prstGeom prst="line">
            <a:avLst/>
          </a:prstGeom>
          <a:ln w="1905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8869680" y="1773936"/>
            <a:ext cx="1078992" cy="1243584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8997696" y="1901952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997696" y="1901952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71426"/>
                </a:solidFill>
                <a:latin typeface="Aptos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97696" y="2322576"/>
            <a:ext cx="822959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9FF"/>
                </a:solidFill>
                <a:latin typeface="Aptos"/>
              </a:rPr>
              <a:t>Verify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97696" y="2606040"/>
            <a:ext cx="82295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IN" sz="800" b="0">
                <a:solidFill>
                  <a:srgbClr val="B2CDE7"/>
                </a:solidFill>
                <a:latin typeface="Aptos"/>
              </a:rPr>
              <a:t>AST + Git/dependency hashes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948672" y="2395728"/>
            <a:ext cx="173736" cy="0"/>
          </a:xfrm>
          <a:prstGeom prst="line">
            <a:avLst/>
          </a:prstGeom>
          <a:ln w="1905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10140696" y="1773936"/>
            <a:ext cx="1078992" cy="1243584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0268712" y="1901952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268712" y="1901952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71426"/>
                </a:solidFill>
                <a:latin typeface="Aptos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68712" y="2322576"/>
            <a:ext cx="822959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9FF"/>
                </a:solidFill>
                <a:latin typeface="Aptos"/>
              </a:rPr>
              <a:t>Explain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68712" y="2606040"/>
            <a:ext cx="822959" cy="338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B2CDE7"/>
                </a:solidFill>
                <a:latin typeface="Aptos"/>
              </a:rPr>
              <a:t>Compile cited evidence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7240" y="3401568"/>
            <a:ext cx="3218688" cy="2084831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78408" y="3538728"/>
            <a:ext cx="2816352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F9FF"/>
                </a:solidFill>
                <a:latin typeface="Aptos"/>
              </a:rPr>
              <a:t>Input tokens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8408" y="4023360"/>
            <a:ext cx="5943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Cold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572768" y="4032504"/>
            <a:ext cx="2194560" cy="210312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591056" y="3995928"/>
            <a:ext cx="215798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F5F9FF"/>
                </a:solidFill>
                <a:latin typeface="Aptos"/>
              </a:rPr>
              <a:t>8000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8408" y="4389120"/>
            <a:ext cx="5943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Warm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72768" y="4398264"/>
            <a:ext cx="411480" cy="210312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591056" y="4361688"/>
            <a:ext cx="594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F5F9FF"/>
                </a:solidFill>
                <a:latin typeface="Aptos"/>
              </a:rPr>
              <a:t>1500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8408" y="5056632"/>
            <a:ext cx="281635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↓ 81%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87952" y="3401568"/>
            <a:ext cx="3218688" cy="2084831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389120" y="3538728"/>
            <a:ext cx="2816352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F9FF"/>
                </a:solidFill>
                <a:latin typeface="Aptos"/>
              </a:rPr>
              <a:t>Elapsed time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0" y="4023360"/>
            <a:ext cx="5943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Cold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83480" y="4032504"/>
            <a:ext cx="2194560" cy="210312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001768" y="3995928"/>
            <a:ext cx="215798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F5F9FF"/>
                </a:solidFill>
                <a:latin typeface="Aptos"/>
              </a:rPr>
              <a:t>18s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89120" y="4389120"/>
            <a:ext cx="5943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Warm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83480" y="4398264"/>
            <a:ext cx="487680" cy="210312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001768" y="4361688"/>
            <a:ext cx="594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F5F9FF"/>
                </a:solidFill>
                <a:latin typeface="Aptos"/>
              </a:rPr>
              <a:t>4s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89120" y="5056632"/>
            <a:ext cx="281635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↓ 78%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598664" y="3401568"/>
            <a:ext cx="3218688" cy="2084831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799832" y="3538728"/>
            <a:ext cx="2816352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F9FF"/>
                </a:solidFill>
                <a:latin typeface="Aptos"/>
              </a:rPr>
              <a:t>Repository tool calls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799832" y="4023360"/>
            <a:ext cx="5943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Cold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94192" y="4032504"/>
            <a:ext cx="2194560" cy="210312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412480" y="3995928"/>
            <a:ext cx="215798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F5F9FF"/>
                </a:solidFill>
                <a:latin typeface="Aptos"/>
              </a:rPr>
              <a:t>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99832" y="4389120"/>
            <a:ext cx="5943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Warm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394192" y="4398264"/>
            <a:ext cx="548640" cy="210312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8412480" y="4361688"/>
            <a:ext cx="594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F5F9FF"/>
                </a:solidFill>
                <a:latin typeface="Aptos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99832" y="5056632"/>
            <a:ext cx="281635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↓ 75%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74519" y="5815584"/>
            <a:ext cx="84124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38BDF8"/>
                </a:solidFill>
                <a:latin typeface="Aptos"/>
              </a:rPr>
              <a:t>Fresh cache hit returns evidence—not a blindly replayed answer.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360" y="6510528"/>
            <a:ext cx="78638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Illustrative model — validate with pilot telemetry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95560" y="6510528"/>
            <a:ext cx="1371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38BDF8"/>
                </a:solidFill>
                <a:latin typeface="Aptos"/>
              </a:rPr>
              <a:t>AgentCacheX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9184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19456"/>
            <a:ext cx="106070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5F9FF"/>
                </a:solidFill>
                <a:latin typeface="Aptos"/>
              </a:rPr>
              <a:t>A safe cache hit needs meaning + code identity + freshness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50392"/>
            <a:ext cx="11018520" cy="22860"/>
          </a:xfrm>
          <a:prstGeom prst="rect">
            <a:avLst/>
          </a:prstGeom>
          <a:solidFill>
            <a:srgbClr val="345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85800" y="1234440"/>
            <a:ext cx="1691640" cy="4498848"/>
          </a:xfrm>
          <a:prstGeom prst="roundRect">
            <a:avLst/>
          </a:prstGeom>
          <a:solidFill>
            <a:srgbClr val="0F264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508760"/>
            <a:ext cx="1280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5F9FF"/>
                </a:solidFill>
                <a:latin typeface="Aptos"/>
              </a:rPr>
              <a:t>Coding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123444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B2CDE7"/>
                </a:solidFill>
                <a:latin typeface="Aptos"/>
              </a:rPr>
              <a:t>Prompt
+
selected file
+
repository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5296" y="4919472"/>
            <a:ext cx="62179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38BDF8"/>
                </a:solidFill>
                <a:latin typeface="Aptos"/>
              </a:rPr>
              <a:t>MCP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234440"/>
            <a:ext cx="3794760" cy="4498848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44952" y="1463040"/>
            <a:ext cx="32918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A855F7"/>
                </a:solidFill>
                <a:latin typeface="Aptos"/>
              </a:rPr>
              <a:t>HYBRID MATCHER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27248" y="1938528"/>
            <a:ext cx="3108960" cy="841248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91840" y="2048256"/>
            <a:ext cx="277977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38BDF8"/>
                </a:solidFill>
                <a:latin typeface="Aptos"/>
              </a:rPr>
              <a:t>Semantic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578608"/>
            <a:ext cx="2779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5F9FF"/>
                </a:solidFill>
                <a:latin typeface="Aptos"/>
              </a:rPr>
              <a:t>Same intent, different wording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27248" y="2944368"/>
            <a:ext cx="3108960" cy="841248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91840" y="3054096"/>
            <a:ext cx="277977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A855F7"/>
                </a:solidFill>
                <a:latin typeface="Aptos"/>
              </a:rPr>
              <a:t>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584448"/>
            <a:ext cx="2779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5F9FF"/>
                </a:solidFill>
                <a:latin typeface="Aptos"/>
              </a:rPr>
              <a:t>Structural code compatibility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27248" y="3950208"/>
            <a:ext cx="3108960" cy="841248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91840" y="4059936"/>
            <a:ext cx="277977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2DD4BF"/>
                </a:solidFill>
                <a:latin typeface="Aptos"/>
              </a:rPr>
              <a:t>Git + dependencies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590288"/>
            <a:ext cx="2779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5F9FF"/>
                </a:solidFill>
                <a:latin typeface="Aptos"/>
              </a:rPr>
              <a:t>Exact freshness and invalidation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5010912"/>
            <a:ext cx="3108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B2CDE7"/>
                </a:solidFill>
                <a:latin typeface="Aptos"/>
              </a:rPr>
              <a:t>All three signals contribute; exact identifiers remain hard constraints.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95160" y="1234440"/>
            <a:ext cx="1874519" cy="2048256"/>
          </a:xfrm>
          <a:prstGeom prst="roundRect">
            <a:avLst/>
          </a:prstGeom>
          <a:solidFill>
            <a:srgbClr val="1A3963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05472" y="1499616"/>
            <a:ext cx="1463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F9FF"/>
                </a:solidFill>
                <a:latin typeface="Aptos"/>
              </a:rPr>
              <a:t>Evidence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96912" y="1947672"/>
            <a:ext cx="12801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B2CDE7"/>
                </a:solidFill>
                <a:latin typeface="Aptos"/>
              </a:rPr>
              <a:t>Purpose
Symbols
Control flow
Dependencies
Citations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95160" y="3685032"/>
            <a:ext cx="1874519" cy="2048256"/>
          </a:xfrm>
          <a:prstGeom prst="roundRect">
            <a:avLst/>
          </a:prstGeom>
          <a:solidFill>
            <a:srgbClr val="1A3963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05472" y="3941063"/>
            <a:ext cx="1463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F9FF"/>
                </a:solidFill>
                <a:latin typeface="Aptos"/>
              </a:rPr>
              <a:t>Freshness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4443984"/>
            <a:ext cx="120700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B2CDE7"/>
                </a:solidFill>
                <a:latin typeface="Aptos"/>
              </a:rPr>
              <a:t>Fresh
Partial
Stale
Miss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1234440"/>
            <a:ext cx="2212848" cy="4498848"/>
          </a:xfrm>
          <a:prstGeom prst="roundRect">
            <a:avLst/>
          </a:prstGeom>
          <a:solidFill>
            <a:srgbClr val="0F264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528048" y="1554480"/>
            <a:ext cx="17373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5F9FF"/>
                </a:solidFill>
                <a:latin typeface="Aptos"/>
              </a:rPr>
              <a:t>Context compiler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2176272"/>
            <a:ext cx="1481328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B2CDE7"/>
                </a:solidFill>
                <a:latin typeface="Aptos"/>
              </a:rPr>
              <a:t>Select
Deduplicate
Cite
Fit token budget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64624" y="4078224"/>
            <a:ext cx="1664208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38BDF8"/>
                </a:solidFill>
                <a:latin typeface="Aptos"/>
              </a:rPr>
              <a:t>Returns only verified evidence needed for the current answer.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377440" y="3474720"/>
            <a:ext cx="384048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583680" y="2249424"/>
            <a:ext cx="384048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583680" y="4700016"/>
            <a:ext cx="384048" cy="0"/>
          </a:xfrm>
          <a:prstGeom prst="line">
            <a:avLst/>
          </a:prstGeom>
          <a:ln w="25400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869680" y="3474720"/>
            <a:ext cx="384048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4360" y="6510528"/>
            <a:ext cx="78638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Single-repository boundary for the MVP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5560" y="6510528"/>
            <a:ext cx="1371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38BDF8"/>
                </a:solidFill>
                <a:latin typeface="Aptos"/>
              </a:rPr>
              <a:t>AgentCacheX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9184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19456"/>
            <a:ext cx="106070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5F9FF"/>
                </a:solidFill>
                <a:latin typeface="Aptos"/>
              </a:rPr>
              <a:t>Target optimization on a verified warm hit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50392"/>
            <a:ext cx="11018520" cy="22860"/>
          </a:xfrm>
          <a:prstGeom prst="rect">
            <a:avLst/>
          </a:prstGeom>
          <a:solidFill>
            <a:srgbClr val="345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914400"/>
            <a:ext cx="108813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B2CDE7"/>
                </a:solidFill>
                <a:latin typeface="Aptos"/>
              </a:rPr>
              <a:t>Baseline and target are illustrative; the pilot must replace them with measured telemetry.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17320"/>
            <a:ext cx="3291840" cy="2176272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1554480"/>
            <a:ext cx="288950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F9FF"/>
                </a:solidFill>
                <a:latin typeface="Aptos"/>
              </a:rPr>
              <a:t>Model input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039112"/>
            <a:ext cx="5943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Cold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72768" y="2048256"/>
            <a:ext cx="2267712" cy="210312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91056" y="2011680"/>
            <a:ext cx="223113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F5F9FF"/>
                </a:solidFill>
                <a:latin typeface="Aptos"/>
              </a:rPr>
              <a:t>8000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404872"/>
            <a:ext cx="5943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Warm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2414016"/>
            <a:ext cx="425196" cy="210312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91056" y="2377440"/>
            <a:ext cx="594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F5F9FF"/>
                </a:solidFill>
                <a:latin typeface="Aptos"/>
              </a:rPr>
              <a:t>1500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3163824"/>
            <a:ext cx="288950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↓ 81% reduction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3984" y="1417320"/>
            <a:ext cx="3291840" cy="2176272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45152" y="1554480"/>
            <a:ext cx="288950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F9FF"/>
                </a:solidFill>
                <a:latin typeface="Aptos"/>
              </a:rPr>
              <a:t>End-to-end latency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2039112"/>
            <a:ext cx="5943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Cold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39512" y="2048256"/>
            <a:ext cx="2267712" cy="210312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57800" y="2011680"/>
            <a:ext cx="223113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F5F9FF"/>
                </a:solidFill>
                <a:latin typeface="Aptos"/>
              </a:rPr>
              <a:t>18s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152" y="2404872"/>
            <a:ext cx="5943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Warm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39512" y="2414016"/>
            <a:ext cx="503936" cy="210312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57800" y="2377440"/>
            <a:ext cx="594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F5F9FF"/>
                </a:solidFill>
                <a:latin typeface="Aptos"/>
              </a:rPr>
              <a:t>4s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3163824"/>
            <a:ext cx="288950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↓ 78% reduction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10727" y="1417320"/>
            <a:ext cx="3291840" cy="2176272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11896" y="1554480"/>
            <a:ext cx="288950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F9FF"/>
                </a:solidFill>
                <a:latin typeface="Aptos"/>
              </a:rPr>
              <a:t>Repository tool 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2039112"/>
            <a:ext cx="5943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Cold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06255" y="2048256"/>
            <a:ext cx="2267712" cy="210312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24544" y="2011680"/>
            <a:ext cx="223113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F5F9FF"/>
                </a:solidFill>
                <a:latin typeface="Aptos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1896" y="2404872"/>
            <a:ext cx="5943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Warm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06255" y="2414016"/>
            <a:ext cx="566928" cy="210312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24544" y="2377440"/>
            <a:ext cx="594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F5F9FF"/>
                </a:solidFill>
                <a:latin typeface="Apto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1896" y="3163824"/>
            <a:ext cx="288950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↓ 75% reduction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3977639"/>
            <a:ext cx="10625328" cy="1572768"/>
          </a:xfrm>
          <a:prstGeom prst="roundRect">
            <a:avLst/>
          </a:prstGeom>
          <a:solidFill>
            <a:srgbClr val="0F2646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42415" y="4187952"/>
            <a:ext cx="3108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5F9FF"/>
                </a:solidFill>
                <a:latin typeface="Aptos"/>
              </a:rPr>
              <a:t>Safety metrics are non-negotiable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41648" y="4096512"/>
            <a:ext cx="14173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2DD4BF"/>
                </a:solidFill>
                <a:latin typeface="Aptos"/>
              </a:rPr>
              <a:t>≥95%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41648" y="4572000"/>
            <a:ext cx="1417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B2CDE7"/>
                </a:solidFill>
                <a:latin typeface="Aptos"/>
              </a:rPr>
              <a:t>cache precision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06440" y="4096512"/>
            <a:ext cx="14173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06440" y="4572000"/>
            <a:ext cx="1417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B2CDE7"/>
                </a:solidFill>
                <a:latin typeface="Aptos"/>
              </a:rPr>
              <a:t>known stale serves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1" y="4096512"/>
            <a:ext cx="14173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2DD4BF"/>
                </a:solidFill>
                <a:latin typeface="Aptos"/>
              </a:rPr>
              <a:t>100%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71231" y="4572000"/>
            <a:ext cx="1417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B2CDE7"/>
                </a:solidFill>
                <a:latin typeface="Aptos"/>
              </a:rPr>
              <a:t>source citation coverage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6024" y="4096512"/>
            <a:ext cx="14173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2DD4BF"/>
                </a:solidFill>
                <a:latin typeface="Aptos"/>
              </a:rPr>
              <a:t>&lt;1s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36024" y="4572000"/>
            <a:ext cx="1417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B2CDE7"/>
                </a:solidFill>
                <a:latin typeface="Aptos"/>
              </a:rPr>
              <a:t>p95 cache lookup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5" y="4791456"/>
            <a:ext cx="290779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87171"/>
                </a:solidFill>
                <a:latin typeface="Aptos"/>
              </a:rPr>
              <a:t>A fast wrong answer is a cache failure.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6510528"/>
            <a:ext cx="78638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Illustrative model — validate with pilot telemetry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5560" y="6510528"/>
            <a:ext cx="1371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38BDF8"/>
                </a:solidFill>
                <a:latin typeface="Aptos"/>
              </a:rPr>
              <a:t>AgentCacheX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9184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19456"/>
            <a:ext cx="106070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5F9FF"/>
                </a:solidFill>
                <a:latin typeface="Aptos"/>
              </a:rPr>
              <a:t>Illustrative annual impact for one repository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50392"/>
            <a:ext cx="11018520" cy="22860"/>
          </a:xfrm>
          <a:prstGeom prst="rect">
            <a:avLst/>
          </a:prstGeom>
          <a:solidFill>
            <a:srgbClr val="345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914400"/>
            <a:ext cx="108813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B2CDE7"/>
                </a:solidFill>
                <a:latin typeface="Aptos"/>
              </a:rPr>
              <a:t>Model: 20 developers × 15 queries/day × 220 days; 60% verified reusable requests.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85800" y="1353312"/>
          <a:ext cx="370332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783080" y="2761488"/>
            <a:ext cx="14630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2DD4BF"/>
                </a:solidFill>
                <a:latin typeface="Aptos"/>
              </a:rPr>
              <a:t>60%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3246120"/>
            <a:ext cx="1280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B2CDE7"/>
                </a:solidFill>
                <a:latin typeface="Aptos"/>
              </a:rPr>
              <a:t>reusable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36592" y="1353312"/>
            <a:ext cx="2944368" cy="1517904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01183" y="1463040"/>
            <a:ext cx="261518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38BDF8"/>
                </a:solidFill>
                <a:latin typeface="Aptos"/>
              </a:rPr>
              <a:t>257.4M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1183" y="1993391"/>
            <a:ext cx="261518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5F9FF"/>
                </a:solidFill>
                <a:latin typeface="Aptos"/>
              </a:rPr>
              <a:t>model input tokens avoided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01183" y="2359152"/>
            <a:ext cx="261518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39,600 × (8,000 − 1,500)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1353312"/>
            <a:ext cx="2944368" cy="1517904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1463040"/>
            <a:ext cx="261518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A855F7"/>
                </a:solidFill>
                <a:latin typeface="Aptos"/>
              </a:rPr>
              <a:t>356K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993391"/>
            <a:ext cx="261518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5F9FF"/>
                </a:solidFill>
                <a:latin typeface="Aptos"/>
              </a:rPr>
              <a:t>repository tool calls avoided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359152"/>
            <a:ext cx="261518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39,600 × (12 − 3)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36592" y="3172968"/>
            <a:ext cx="2944368" cy="1517904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01183" y="3282696"/>
            <a:ext cx="261518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2DD4BF"/>
                </a:solidFill>
                <a:latin typeface="Aptos"/>
              </a:rPr>
              <a:t>154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01183" y="3813048"/>
            <a:ext cx="261518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5F9FF"/>
                </a:solidFill>
                <a:latin typeface="Aptos"/>
              </a:rPr>
              <a:t>agent wait time avoided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3" y="4178808"/>
            <a:ext cx="261518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39,600 × 14 seconds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3568" y="3172968"/>
            <a:ext cx="2944368" cy="1517904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345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38160" y="3282696"/>
            <a:ext cx="261518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BBF24"/>
                </a:solidFill>
                <a:latin typeface="Aptos"/>
              </a:rPr>
              <a:t>39.6K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813048"/>
            <a:ext cx="261518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5F9FF"/>
                </a:solidFill>
                <a:latin typeface="Aptos"/>
              </a:rPr>
              <a:t>verified warm responses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178808"/>
            <a:ext cx="261518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No model-price assumption required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5010912"/>
            <a:ext cx="6181344" cy="658368"/>
          </a:xfrm>
          <a:prstGeom prst="roundRect">
            <a:avLst/>
          </a:prstGeom>
          <a:solidFill>
            <a:srgbClr val="0F264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56048" y="5157216"/>
            <a:ext cx="574243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F9FF"/>
                </a:solidFill>
                <a:latin typeface="Aptos"/>
              </a:rPr>
              <a:t>Pilot telemetry replaces assumptions: hit rate, precision, tokens, latency, tool calls.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510528"/>
            <a:ext cx="78638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Illustrative estimates — savings exclude embedding and cache-service overhead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5560" y="6510528"/>
            <a:ext cx="1371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38BDF8"/>
                </a:solidFill>
                <a:latin typeface="Aptos"/>
              </a:rPr>
              <a:t>AgentCacheX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9184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19456"/>
            <a:ext cx="106070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5F9FF"/>
                </a:solidFill>
                <a:latin typeface="Aptos"/>
              </a:rPr>
              <a:t>Build the smallest experiment that proves safe reuse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50392"/>
            <a:ext cx="11018520" cy="22860"/>
          </a:xfrm>
          <a:prstGeom prst="rect">
            <a:avLst/>
          </a:prstGeom>
          <a:solidFill>
            <a:srgbClr val="345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13232" y="1261872"/>
            <a:ext cx="3346704" cy="4407408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517904"/>
            <a:ext cx="28346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2DD4BF"/>
                </a:solidFill>
                <a:latin typeface="Aptos"/>
              </a:rPr>
              <a:t>IN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1993392"/>
            <a:ext cx="2761488" cy="3182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9FF"/>
                </a:solidFill>
                <a:latin typeface="Aptos"/>
              </a:rPr>
              <a:t>✓  One configured repository
✓  File and symbol explanations
✓  Semantic prompt matching
✓  C# AST fingerprints
✓  Git + dependency validation
✓  Cited evidence cards
✓  MCP integration and metrics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261872"/>
            <a:ext cx="3346704" cy="4407408"/>
          </a:xfrm>
          <a:prstGeom prst="roundRect">
            <a:avLst/>
          </a:prstGeom>
          <a:solidFill>
            <a:srgbClr val="143054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1517904"/>
            <a:ext cx="28346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7171"/>
                </a:solidFill>
                <a:latin typeface="Aptos"/>
              </a:rPr>
              <a:t>NOT YET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1993392"/>
            <a:ext cx="2761488" cy="3182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2CDE7"/>
                </a:solidFill>
                <a:latin typeface="Aptos"/>
              </a:rPr>
              <a:t>—  Generic non-code questions
—  Cross-repository memory
—  Web, email, chat, or incidents
—  Blind final-answer replay
—  Shell trajectory replay
—  Enterprise-wide RBAC
—  Multi-region deployment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261872"/>
            <a:ext cx="3346704" cy="4407408"/>
          </a:xfrm>
          <a:prstGeom prst="roundRect">
            <a:avLst/>
          </a:prstGeom>
          <a:solidFill>
            <a:srgbClr val="0F264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1517904"/>
            <a:ext cx="28346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38BDF8"/>
                </a:solidFill>
                <a:latin typeface="Aptos"/>
              </a:rPr>
              <a:t>DEMO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0" y="198424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0" y="198424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71426"/>
                </a:solidFill>
                <a:latin typeface="Apto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8" y="1938528"/>
            <a:ext cx="2148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5F9FF"/>
                </a:solidFill>
                <a:latin typeface="Aptos"/>
              </a:rPr>
              <a:t>Cold agent explores and records evidence</a:t>
            </a:r>
          </a:p>
        </p:txBody>
      </p:sp>
      <p:sp>
        <p:nvSpPr>
          <p:cNvPr id="16" name="Oval 15"/>
          <p:cNvSpPr/>
          <p:nvPr/>
        </p:nvSpPr>
        <p:spPr>
          <a:xfrm>
            <a:off x="8412480" y="2862072"/>
            <a:ext cx="411480" cy="41148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0" y="286207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71426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9408" y="2816352"/>
            <a:ext cx="2148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5F9FF"/>
                </a:solidFill>
                <a:latin typeface="Aptos"/>
              </a:rPr>
              <a:t>Rephrased prompt gets a verified warm hit</a:t>
            </a:r>
          </a:p>
        </p:txBody>
      </p:sp>
      <p:sp>
        <p:nvSpPr>
          <p:cNvPr id="19" name="Oval 18"/>
          <p:cNvSpPr/>
          <p:nvPr/>
        </p:nvSpPr>
        <p:spPr>
          <a:xfrm>
            <a:off x="8412480" y="3739896"/>
            <a:ext cx="411480" cy="4114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0" y="3739896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71426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3694176"/>
            <a:ext cx="2148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5F9FF"/>
                </a:solidFill>
                <a:latin typeface="Aptos"/>
              </a:rPr>
              <a:t>Code change invalidates only affected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4681728"/>
            <a:ext cx="10515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Aptos"/>
              </a:rPr>
              <a:t>Decision 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5010912"/>
            <a:ext cx="2724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9FF"/>
                </a:solidFill>
                <a:latin typeface="Aptos"/>
              </a:rPr>
              <a:t>Proceed only if reuse is precise, fresh, and measurably cheaper.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943600"/>
            <a:ext cx="9738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38BDF8"/>
                </a:solidFill>
                <a:latin typeface="Aptos"/>
              </a:rPr>
              <a:t>Prove the cache saves work without serving stale code knowledge.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510528"/>
            <a:ext cx="78638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B2CDE7"/>
                </a:solidFill>
                <a:latin typeface="Aptos"/>
              </a:rPr>
              <a:t>Recommended pilot: file explanation + dependency tracing in one C# repository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5560" y="6510528"/>
            <a:ext cx="1371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38BDF8"/>
                </a:solidFill>
                <a:latin typeface="Aptos"/>
              </a:rPr>
              <a:t>AgentCacheX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702</Words>
  <Application>Microsoft Office PowerPoint</Application>
  <PresentationFormat>Widescreen</PresentationFormat>
  <Paragraphs>166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Avish Porwal</cp:lastModifiedBy>
  <cp:revision>1</cp:revision>
  <dcterms:created xsi:type="dcterms:W3CDTF">2013-01-27T09:14:16Z</dcterms:created>
  <dcterms:modified xsi:type="dcterms:W3CDTF">2026-09-07T07:22:27Z</dcterms:modified>
  <cp:category/>
</cp:coreProperties>
</file>